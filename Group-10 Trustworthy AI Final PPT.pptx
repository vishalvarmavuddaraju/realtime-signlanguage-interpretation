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74" r:id="rId5"/>
    <p:sldId id="275" r:id="rId6"/>
    <p:sldId id="257" r:id="rId7"/>
    <p:sldId id="259" r:id="rId8"/>
    <p:sldId id="261" r:id="rId9"/>
    <p:sldId id="263" r:id="rId10"/>
    <p:sldId id="264" r:id="rId11"/>
    <p:sldId id="267" r:id="rId12"/>
    <p:sldId id="278" r:id="rId13"/>
    <p:sldId id="269" r:id="rId14"/>
    <p:sldId id="276" r:id="rId15"/>
    <p:sldId id="287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70" r:id="rId24"/>
    <p:sldId id="272" r:id="rId25"/>
    <p:sldId id="27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4B6AE7B-D3D8-4A32-B8D1-1D3F99FC1437}">
          <p14:sldIdLst>
            <p14:sldId id="274"/>
            <p14:sldId id="275"/>
            <p14:sldId id="257"/>
            <p14:sldId id="259"/>
            <p14:sldId id="261"/>
            <p14:sldId id="263"/>
            <p14:sldId id="264"/>
            <p14:sldId id="267"/>
            <p14:sldId id="278"/>
            <p14:sldId id="269"/>
            <p14:sldId id="276"/>
            <p14:sldId id="287"/>
            <p14:sldId id="280"/>
            <p14:sldId id="281"/>
          </p14:sldIdLst>
        </p14:section>
        <p14:section name="graphs" id="{86625257-16BC-4186-A813-BE39D4569CF4}">
          <p14:sldIdLst>
            <p14:sldId id="282"/>
            <p14:sldId id="283"/>
            <p14:sldId id="284"/>
          </p14:sldIdLst>
        </p14:section>
        <p14:section name="end" id="{3969766C-FE5F-4F79-9D08-E581C7802C7D}">
          <p14:sldIdLst>
            <p14:sldId id="285"/>
            <p14:sldId id="286"/>
            <p14:sldId id="270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987B"/>
    <a:srgbClr val="505F60"/>
    <a:srgbClr val="748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0249" autoAdjust="0"/>
  </p:normalViewPr>
  <p:slideViewPr>
    <p:cSldViewPr snapToGrid="0">
      <p:cViewPr varScale="1">
        <p:scale>
          <a:sx n="43" d="100"/>
          <a:sy n="43" d="100"/>
        </p:scale>
        <p:origin x="211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E2F30A-52B7-4B21-95C8-9076728E250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7EB848-A860-4959-8D0D-D0897DDE07EC}">
      <dgm:prSet/>
      <dgm:spPr/>
      <dgm:t>
        <a:bodyPr/>
        <a:lstStyle/>
        <a:p>
          <a:r>
            <a:rPr lang="en-IN"/>
            <a:t>Rule- based systems</a:t>
          </a:r>
          <a:endParaRPr lang="en-US"/>
        </a:p>
      </dgm:t>
    </dgm:pt>
    <dgm:pt modelId="{49D45973-FE95-4A22-B26F-D1D2B9626CCF}" type="parTrans" cxnId="{92242A2E-AAB3-4623-AFE3-DD7DC03DBA66}">
      <dgm:prSet/>
      <dgm:spPr/>
      <dgm:t>
        <a:bodyPr/>
        <a:lstStyle/>
        <a:p>
          <a:endParaRPr lang="en-US"/>
        </a:p>
      </dgm:t>
    </dgm:pt>
    <dgm:pt modelId="{16917131-CE4F-4645-BBB0-BACC3A14D1B3}" type="sibTrans" cxnId="{92242A2E-AAB3-4623-AFE3-DD7DC03DBA66}">
      <dgm:prSet/>
      <dgm:spPr/>
      <dgm:t>
        <a:bodyPr/>
        <a:lstStyle/>
        <a:p>
          <a:endParaRPr lang="en-US"/>
        </a:p>
      </dgm:t>
    </dgm:pt>
    <dgm:pt modelId="{6047C4AE-24CC-43D7-BBA0-BE4BB3E3DA49}">
      <dgm:prSet/>
      <dgm:spPr/>
      <dgm:t>
        <a:bodyPr/>
        <a:lstStyle/>
        <a:p>
          <a:r>
            <a:rPr lang="en-IN"/>
            <a:t>Glove based systems</a:t>
          </a:r>
          <a:endParaRPr lang="en-US"/>
        </a:p>
      </dgm:t>
    </dgm:pt>
    <dgm:pt modelId="{BD397D61-544B-432F-A751-A6885B277D49}" type="parTrans" cxnId="{D5EFFD93-EB5C-45A6-BB07-D74471F8B25D}">
      <dgm:prSet/>
      <dgm:spPr/>
      <dgm:t>
        <a:bodyPr/>
        <a:lstStyle/>
        <a:p>
          <a:endParaRPr lang="en-US"/>
        </a:p>
      </dgm:t>
    </dgm:pt>
    <dgm:pt modelId="{57EFF0C0-771E-49FD-BE9F-917E769613DC}" type="sibTrans" cxnId="{D5EFFD93-EB5C-45A6-BB07-D74471F8B25D}">
      <dgm:prSet/>
      <dgm:spPr/>
      <dgm:t>
        <a:bodyPr/>
        <a:lstStyle/>
        <a:p>
          <a:endParaRPr lang="en-US"/>
        </a:p>
      </dgm:t>
    </dgm:pt>
    <dgm:pt modelId="{687B1FD3-E8D6-4177-BD29-2F0CAA201A4B}">
      <dgm:prSet/>
      <dgm:spPr/>
      <dgm:t>
        <a:bodyPr/>
        <a:lstStyle/>
        <a:p>
          <a:r>
            <a:rPr lang="en-IN"/>
            <a:t>Computer vision based approaches</a:t>
          </a:r>
          <a:endParaRPr lang="en-US"/>
        </a:p>
      </dgm:t>
    </dgm:pt>
    <dgm:pt modelId="{322EEFCB-6D6E-4CBB-9353-43BECCF0490B}" type="parTrans" cxnId="{500EBA30-CC35-405D-B489-77DB805058C6}">
      <dgm:prSet/>
      <dgm:spPr/>
      <dgm:t>
        <a:bodyPr/>
        <a:lstStyle/>
        <a:p>
          <a:endParaRPr lang="en-US"/>
        </a:p>
      </dgm:t>
    </dgm:pt>
    <dgm:pt modelId="{6A044DEB-FDB6-478D-9628-174037CA5665}" type="sibTrans" cxnId="{500EBA30-CC35-405D-B489-77DB805058C6}">
      <dgm:prSet/>
      <dgm:spPr/>
      <dgm:t>
        <a:bodyPr/>
        <a:lstStyle/>
        <a:p>
          <a:endParaRPr lang="en-US"/>
        </a:p>
      </dgm:t>
    </dgm:pt>
    <dgm:pt modelId="{3ED36377-89F6-4AF0-80B9-11A628ED8DD9}">
      <dgm:prSet/>
      <dgm:spPr/>
      <dgm:t>
        <a:bodyPr/>
        <a:lstStyle/>
        <a:p>
          <a:r>
            <a:rPr lang="en-IN"/>
            <a:t>Existing Apps</a:t>
          </a:r>
          <a:endParaRPr lang="en-US"/>
        </a:p>
      </dgm:t>
    </dgm:pt>
    <dgm:pt modelId="{442FB438-CCA1-4BCA-88C7-C48A8140F965}" type="parTrans" cxnId="{4EBEB634-679B-43D2-8EEA-59C81C1C7493}">
      <dgm:prSet/>
      <dgm:spPr/>
      <dgm:t>
        <a:bodyPr/>
        <a:lstStyle/>
        <a:p>
          <a:endParaRPr lang="en-US"/>
        </a:p>
      </dgm:t>
    </dgm:pt>
    <dgm:pt modelId="{198F1911-9744-4602-855B-4D9029B51EE3}" type="sibTrans" cxnId="{4EBEB634-679B-43D2-8EEA-59C81C1C7493}">
      <dgm:prSet/>
      <dgm:spPr/>
      <dgm:t>
        <a:bodyPr/>
        <a:lstStyle/>
        <a:p>
          <a:endParaRPr lang="en-US"/>
        </a:p>
      </dgm:t>
    </dgm:pt>
    <dgm:pt modelId="{5FDA6D6A-0634-4791-A66C-E19AD3FE0009}" type="pres">
      <dgm:prSet presAssocID="{69E2F30A-52B7-4B21-95C8-9076728E250B}" presName="root" presStyleCnt="0">
        <dgm:presLayoutVars>
          <dgm:dir/>
          <dgm:resizeHandles val="exact"/>
        </dgm:presLayoutVars>
      </dgm:prSet>
      <dgm:spPr/>
    </dgm:pt>
    <dgm:pt modelId="{B609129B-C912-4846-9801-13CB63DD830A}" type="pres">
      <dgm:prSet presAssocID="{1F7EB848-A860-4959-8D0D-D0897DDE07EC}" presName="compNode" presStyleCnt="0"/>
      <dgm:spPr/>
    </dgm:pt>
    <dgm:pt modelId="{EC247AF5-024D-45E1-B25C-8A81C5450257}" type="pres">
      <dgm:prSet presAssocID="{1F7EB848-A860-4959-8D0D-D0897DDE07E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CD33535-6BDB-452A-8204-7D60B9F0A4BD}" type="pres">
      <dgm:prSet presAssocID="{1F7EB848-A860-4959-8D0D-D0897DDE07EC}" presName="spaceRect" presStyleCnt="0"/>
      <dgm:spPr/>
    </dgm:pt>
    <dgm:pt modelId="{BEDF3E10-4EE8-47A0-A2BA-FA4A75AF6BBE}" type="pres">
      <dgm:prSet presAssocID="{1F7EB848-A860-4959-8D0D-D0897DDE07EC}" presName="textRect" presStyleLbl="revTx" presStyleIdx="0" presStyleCnt="4">
        <dgm:presLayoutVars>
          <dgm:chMax val="1"/>
          <dgm:chPref val="1"/>
        </dgm:presLayoutVars>
      </dgm:prSet>
      <dgm:spPr/>
    </dgm:pt>
    <dgm:pt modelId="{6AC15E8C-23F2-4EDD-A028-B72C81259088}" type="pres">
      <dgm:prSet presAssocID="{16917131-CE4F-4645-BBB0-BACC3A14D1B3}" presName="sibTrans" presStyleCnt="0"/>
      <dgm:spPr/>
    </dgm:pt>
    <dgm:pt modelId="{6B442F42-73E3-46E3-B59A-D4919D11BD93}" type="pres">
      <dgm:prSet presAssocID="{6047C4AE-24CC-43D7-BBA0-BE4BB3E3DA49}" presName="compNode" presStyleCnt="0"/>
      <dgm:spPr/>
    </dgm:pt>
    <dgm:pt modelId="{79F87F6B-9FFB-4634-9D05-E97AE231A0CA}" type="pres">
      <dgm:prSet presAssocID="{6047C4AE-24CC-43D7-BBA0-BE4BB3E3DA4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75261F1E-6987-432D-B0DD-8B2222926415}" type="pres">
      <dgm:prSet presAssocID="{6047C4AE-24CC-43D7-BBA0-BE4BB3E3DA49}" presName="spaceRect" presStyleCnt="0"/>
      <dgm:spPr/>
    </dgm:pt>
    <dgm:pt modelId="{83E7F6C5-1A4E-458E-91A3-B774AFB54845}" type="pres">
      <dgm:prSet presAssocID="{6047C4AE-24CC-43D7-BBA0-BE4BB3E3DA49}" presName="textRect" presStyleLbl="revTx" presStyleIdx="1" presStyleCnt="4">
        <dgm:presLayoutVars>
          <dgm:chMax val="1"/>
          <dgm:chPref val="1"/>
        </dgm:presLayoutVars>
      </dgm:prSet>
      <dgm:spPr/>
    </dgm:pt>
    <dgm:pt modelId="{9BD97A09-4707-443A-8793-16839419A7F4}" type="pres">
      <dgm:prSet presAssocID="{57EFF0C0-771E-49FD-BE9F-917E769613DC}" presName="sibTrans" presStyleCnt="0"/>
      <dgm:spPr/>
    </dgm:pt>
    <dgm:pt modelId="{ED22EE08-90D1-4138-9111-BB8398B16317}" type="pres">
      <dgm:prSet presAssocID="{687B1FD3-E8D6-4177-BD29-2F0CAA201A4B}" presName="compNode" presStyleCnt="0"/>
      <dgm:spPr/>
    </dgm:pt>
    <dgm:pt modelId="{701238C5-5708-4149-A69E-C3704113D8E0}" type="pres">
      <dgm:prSet presAssocID="{687B1FD3-E8D6-4177-BD29-2F0CAA201A4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895FDF3-F92A-488A-B26B-C809A9FE03C6}" type="pres">
      <dgm:prSet presAssocID="{687B1FD3-E8D6-4177-BD29-2F0CAA201A4B}" presName="spaceRect" presStyleCnt="0"/>
      <dgm:spPr/>
    </dgm:pt>
    <dgm:pt modelId="{E3988D93-8084-4830-8336-E6CD9ADB5018}" type="pres">
      <dgm:prSet presAssocID="{687B1FD3-E8D6-4177-BD29-2F0CAA201A4B}" presName="textRect" presStyleLbl="revTx" presStyleIdx="2" presStyleCnt="4">
        <dgm:presLayoutVars>
          <dgm:chMax val="1"/>
          <dgm:chPref val="1"/>
        </dgm:presLayoutVars>
      </dgm:prSet>
      <dgm:spPr/>
    </dgm:pt>
    <dgm:pt modelId="{82F64E72-75DE-4F44-93D8-09DEE66A70F8}" type="pres">
      <dgm:prSet presAssocID="{6A044DEB-FDB6-478D-9628-174037CA5665}" presName="sibTrans" presStyleCnt="0"/>
      <dgm:spPr/>
    </dgm:pt>
    <dgm:pt modelId="{423501F5-E497-4BF9-B747-FAD03C146C89}" type="pres">
      <dgm:prSet presAssocID="{3ED36377-89F6-4AF0-80B9-11A628ED8DD9}" presName="compNode" presStyleCnt="0"/>
      <dgm:spPr/>
    </dgm:pt>
    <dgm:pt modelId="{D400C18D-6DFA-4F57-9783-34B7C04F1ED2}" type="pres">
      <dgm:prSet presAssocID="{3ED36377-89F6-4AF0-80B9-11A628ED8DD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760D02E-127E-4D60-95DC-67F7E4BB3C51}" type="pres">
      <dgm:prSet presAssocID="{3ED36377-89F6-4AF0-80B9-11A628ED8DD9}" presName="spaceRect" presStyleCnt="0"/>
      <dgm:spPr/>
    </dgm:pt>
    <dgm:pt modelId="{05BC30DA-7FAC-4ECA-AE48-181C0AFBE066}" type="pres">
      <dgm:prSet presAssocID="{3ED36377-89F6-4AF0-80B9-11A628ED8DD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2242A2E-AAB3-4623-AFE3-DD7DC03DBA66}" srcId="{69E2F30A-52B7-4B21-95C8-9076728E250B}" destId="{1F7EB848-A860-4959-8D0D-D0897DDE07EC}" srcOrd="0" destOrd="0" parTransId="{49D45973-FE95-4A22-B26F-D1D2B9626CCF}" sibTransId="{16917131-CE4F-4645-BBB0-BACC3A14D1B3}"/>
    <dgm:cxn modelId="{500EBA30-CC35-405D-B489-77DB805058C6}" srcId="{69E2F30A-52B7-4B21-95C8-9076728E250B}" destId="{687B1FD3-E8D6-4177-BD29-2F0CAA201A4B}" srcOrd="2" destOrd="0" parTransId="{322EEFCB-6D6E-4CBB-9353-43BECCF0490B}" sibTransId="{6A044DEB-FDB6-478D-9628-174037CA5665}"/>
    <dgm:cxn modelId="{4EBEB634-679B-43D2-8EEA-59C81C1C7493}" srcId="{69E2F30A-52B7-4B21-95C8-9076728E250B}" destId="{3ED36377-89F6-4AF0-80B9-11A628ED8DD9}" srcOrd="3" destOrd="0" parTransId="{442FB438-CCA1-4BCA-88C7-C48A8140F965}" sibTransId="{198F1911-9744-4602-855B-4D9029B51EE3}"/>
    <dgm:cxn modelId="{36173845-BB11-4C50-9327-DC3384DFE305}" type="presOf" srcId="{687B1FD3-E8D6-4177-BD29-2F0CAA201A4B}" destId="{E3988D93-8084-4830-8336-E6CD9ADB5018}" srcOrd="0" destOrd="0" presId="urn:microsoft.com/office/officeart/2018/2/layout/IconLabelList"/>
    <dgm:cxn modelId="{D129DB75-7EF4-459E-AC87-FB509A0BFACB}" type="presOf" srcId="{6047C4AE-24CC-43D7-BBA0-BE4BB3E3DA49}" destId="{83E7F6C5-1A4E-458E-91A3-B774AFB54845}" srcOrd="0" destOrd="0" presId="urn:microsoft.com/office/officeart/2018/2/layout/IconLabelList"/>
    <dgm:cxn modelId="{50D6CA59-EB49-4B42-8000-3236C7F6E706}" type="presOf" srcId="{3ED36377-89F6-4AF0-80B9-11A628ED8DD9}" destId="{05BC30DA-7FAC-4ECA-AE48-181C0AFBE066}" srcOrd="0" destOrd="0" presId="urn:microsoft.com/office/officeart/2018/2/layout/IconLabelList"/>
    <dgm:cxn modelId="{D5EFFD93-EB5C-45A6-BB07-D74471F8B25D}" srcId="{69E2F30A-52B7-4B21-95C8-9076728E250B}" destId="{6047C4AE-24CC-43D7-BBA0-BE4BB3E3DA49}" srcOrd="1" destOrd="0" parTransId="{BD397D61-544B-432F-A751-A6885B277D49}" sibTransId="{57EFF0C0-771E-49FD-BE9F-917E769613DC}"/>
    <dgm:cxn modelId="{8231FFBD-0B84-44CE-853D-417882248651}" type="presOf" srcId="{69E2F30A-52B7-4B21-95C8-9076728E250B}" destId="{5FDA6D6A-0634-4791-A66C-E19AD3FE0009}" srcOrd="0" destOrd="0" presId="urn:microsoft.com/office/officeart/2018/2/layout/IconLabelList"/>
    <dgm:cxn modelId="{CECA1FE6-71C3-47DB-B6A1-79CB97097866}" type="presOf" srcId="{1F7EB848-A860-4959-8D0D-D0897DDE07EC}" destId="{BEDF3E10-4EE8-47A0-A2BA-FA4A75AF6BBE}" srcOrd="0" destOrd="0" presId="urn:microsoft.com/office/officeart/2018/2/layout/IconLabelList"/>
    <dgm:cxn modelId="{1678272C-72F5-4A47-8451-56C8FD53BDDE}" type="presParOf" srcId="{5FDA6D6A-0634-4791-A66C-E19AD3FE0009}" destId="{B609129B-C912-4846-9801-13CB63DD830A}" srcOrd="0" destOrd="0" presId="urn:microsoft.com/office/officeart/2018/2/layout/IconLabelList"/>
    <dgm:cxn modelId="{E11EE615-A6A3-4E9D-A3DE-8BF60ECCFB1D}" type="presParOf" srcId="{B609129B-C912-4846-9801-13CB63DD830A}" destId="{EC247AF5-024D-45E1-B25C-8A81C5450257}" srcOrd="0" destOrd="0" presId="urn:microsoft.com/office/officeart/2018/2/layout/IconLabelList"/>
    <dgm:cxn modelId="{48B6880E-42A5-43FE-99CA-304694C996C1}" type="presParOf" srcId="{B609129B-C912-4846-9801-13CB63DD830A}" destId="{DCD33535-6BDB-452A-8204-7D60B9F0A4BD}" srcOrd="1" destOrd="0" presId="urn:microsoft.com/office/officeart/2018/2/layout/IconLabelList"/>
    <dgm:cxn modelId="{F1F34D32-4917-4AEB-8CD7-E6B182AFBB5E}" type="presParOf" srcId="{B609129B-C912-4846-9801-13CB63DD830A}" destId="{BEDF3E10-4EE8-47A0-A2BA-FA4A75AF6BBE}" srcOrd="2" destOrd="0" presId="urn:microsoft.com/office/officeart/2018/2/layout/IconLabelList"/>
    <dgm:cxn modelId="{6E342A67-D5B6-4232-A727-71B8871B80D6}" type="presParOf" srcId="{5FDA6D6A-0634-4791-A66C-E19AD3FE0009}" destId="{6AC15E8C-23F2-4EDD-A028-B72C81259088}" srcOrd="1" destOrd="0" presId="urn:microsoft.com/office/officeart/2018/2/layout/IconLabelList"/>
    <dgm:cxn modelId="{56238541-9B22-40A7-811D-2FAAAFCA9221}" type="presParOf" srcId="{5FDA6D6A-0634-4791-A66C-E19AD3FE0009}" destId="{6B442F42-73E3-46E3-B59A-D4919D11BD93}" srcOrd="2" destOrd="0" presId="urn:microsoft.com/office/officeart/2018/2/layout/IconLabelList"/>
    <dgm:cxn modelId="{A70E847D-7708-4AF2-B510-C0FE280C5B48}" type="presParOf" srcId="{6B442F42-73E3-46E3-B59A-D4919D11BD93}" destId="{79F87F6B-9FFB-4634-9D05-E97AE231A0CA}" srcOrd="0" destOrd="0" presId="urn:microsoft.com/office/officeart/2018/2/layout/IconLabelList"/>
    <dgm:cxn modelId="{89EF7899-7AC1-460E-A96C-93747A1D2072}" type="presParOf" srcId="{6B442F42-73E3-46E3-B59A-D4919D11BD93}" destId="{75261F1E-6987-432D-B0DD-8B2222926415}" srcOrd="1" destOrd="0" presId="urn:microsoft.com/office/officeart/2018/2/layout/IconLabelList"/>
    <dgm:cxn modelId="{77B500F6-A834-4062-8544-EE5CD33938DD}" type="presParOf" srcId="{6B442F42-73E3-46E3-B59A-D4919D11BD93}" destId="{83E7F6C5-1A4E-458E-91A3-B774AFB54845}" srcOrd="2" destOrd="0" presId="urn:microsoft.com/office/officeart/2018/2/layout/IconLabelList"/>
    <dgm:cxn modelId="{B16C7293-F1F9-4620-BB94-7B9975C38629}" type="presParOf" srcId="{5FDA6D6A-0634-4791-A66C-E19AD3FE0009}" destId="{9BD97A09-4707-443A-8793-16839419A7F4}" srcOrd="3" destOrd="0" presId="urn:microsoft.com/office/officeart/2018/2/layout/IconLabelList"/>
    <dgm:cxn modelId="{F4115148-D8BB-488B-BF45-C6234A8535F6}" type="presParOf" srcId="{5FDA6D6A-0634-4791-A66C-E19AD3FE0009}" destId="{ED22EE08-90D1-4138-9111-BB8398B16317}" srcOrd="4" destOrd="0" presId="urn:microsoft.com/office/officeart/2018/2/layout/IconLabelList"/>
    <dgm:cxn modelId="{91D81BA8-7BD1-4E3E-AFED-9F4F0439D1FE}" type="presParOf" srcId="{ED22EE08-90D1-4138-9111-BB8398B16317}" destId="{701238C5-5708-4149-A69E-C3704113D8E0}" srcOrd="0" destOrd="0" presId="urn:microsoft.com/office/officeart/2018/2/layout/IconLabelList"/>
    <dgm:cxn modelId="{04095693-1DAE-4366-9785-CE23C5069DD6}" type="presParOf" srcId="{ED22EE08-90D1-4138-9111-BB8398B16317}" destId="{7895FDF3-F92A-488A-B26B-C809A9FE03C6}" srcOrd="1" destOrd="0" presId="urn:microsoft.com/office/officeart/2018/2/layout/IconLabelList"/>
    <dgm:cxn modelId="{8E3121EF-3691-4EBE-9F05-23251C292636}" type="presParOf" srcId="{ED22EE08-90D1-4138-9111-BB8398B16317}" destId="{E3988D93-8084-4830-8336-E6CD9ADB5018}" srcOrd="2" destOrd="0" presId="urn:microsoft.com/office/officeart/2018/2/layout/IconLabelList"/>
    <dgm:cxn modelId="{64E1A52A-5A89-458D-AFB4-C61776242FA3}" type="presParOf" srcId="{5FDA6D6A-0634-4791-A66C-E19AD3FE0009}" destId="{82F64E72-75DE-4F44-93D8-09DEE66A70F8}" srcOrd="5" destOrd="0" presId="urn:microsoft.com/office/officeart/2018/2/layout/IconLabelList"/>
    <dgm:cxn modelId="{4A4F8843-6881-4691-8425-77BF55D02FFB}" type="presParOf" srcId="{5FDA6D6A-0634-4791-A66C-E19AD3FE0009}" destId="{423501F5-E497-4BF9-B747-FAD03C146C89}" srcOrd="6" destOrd="0" presId="urn:microsoft.com/office/officeart/2018/2/layout/IconLabelList"/>
    <dgm:cxn modelId="{DB0BF1BF-7708-48AA-9B29-26132EEDC1E9}" type="presParOf" srcId="{423501F5-E497-4BF9-B747-FAD03C146C89}" destId="{D400C18D-6DFA-4F57-9783-34B7C04F1ED2}" srcOrd="0" destOrd="0" presId="urn:microsoft.com/office/officeart/2018/2/layout/IconLabelList"/>
    <dgm:cxn modelId="{037F364B-D1C8-4486-A025-33516112B7BA}" type="presParOf" srcId="{423501F5-E497-4BF9-B747-FAD03C146C89}" destId="{1760D02E-127E-4D60-95DC-67F7E4BB3C51}" srcOrd="1" destOrd="0" presId="urn:microsoft.com/office/officeart/2018/2/layout/IconLabelList"/>
    <dgm:cxn modelId="{4A4B3F8B-ADC1-4FB1-9C9C-127052989C74}" type="presParOf" srcId="{423501F5-E497-4BF9-B747-FAD03C146C89}" destId="{05BC30DA-7FAC-4ECA-AE48-181C0AFBE06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247AF5-024D-45E1-B25C-8A81C5450257}">
      <dsp:nvSpPr>
        <dsp:cNvPr id="0" name=""/>
        <dsp:cNvSpPr/>
      </dsp:nvSpPr>
      <dsp:spPr>
        <a:xfrm>
          <a:off x="1138979" y="1204112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F3E10-4EE8-47A0-A2BA-FA4A75AF6BBE}">
      <dsp:nvSpPr>
        <dsp:cNvPr id="0" name=""/>
        <dsp:cNvSpPr/>
      </dsp:nvSpPr>
      <dsp:spPr>
        <a:xfrm>
          <a:off x="569079" y="242843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Rule- based systems</a:t>
          </a:r>
          <a:endParaRPr lang="en-US" sz="2200" kern="1200"/>
        </a:p>
      </dsp:txBody>
      <dsp:txXfrm>
        <a:off x="569079" y="2428431"/>
        <a:ext cx="2072362" cy="720000"/>
      </dsp:txXfrm>
    </dsp:sp>
    <dsp:sp modelId="{79F87F6B-9FFB-4634-9D05-E97AE231A0CA}">
      <dsp:nvSpPr>
        <dsp:cNvPr id="0" name=""/>
        <dsp:cNvSpPr/>
      </dsp:nvSpPr>
      <dsp:spPr>
        <a:xfrm>
          <a:off x="3574005" y="1204112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7F6C5-1A4E-458E-91A3-B774AFB54845}">
      <dsp:nvSpPr>
        <dsp:cNvPr id="0" name=""/>
        <dsp:cNvSpPr/>
      </dsp:nvSpPr>
      <dsp:spPr>
        <a:xfrm>
          <a:off x="3004105" y="242843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Glove based systems</a:t>
          </a:r>
          <a:endParaRPr lang="en-US" sz="2200" kern="1200"/>
        </a:p>
      </dsp:txBody>
      <dsp:txXfrm>
        <a:off x="3004105" y="2428431"/>
        <a:ext cx="2072362" cy="720000"/>
      </dsp:txXfrm>
    </dsp:sp>
    <dsp:sp modelId="{701238C5-5708-4149-A69E-C3704113D8E0}">
      <dsp:nvSpPr>
        <dsp:cNvPr id="0" name=""/>
        <dsp:cNvSpPr/>
      </dsp:nvSpPr>
      <dsp:spPr>
        <a:xfrm>
          <a:off x="6009031" y="1204112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88D93-8084-4830-8336-E6CD9ADB5018}">
      <dsp:nvSpPr>
        <dsp:cNvPr id="0" name=""/>
        <dsp:cNvSpPr/>
      </dsp:nvSpPr>
      <dsp:spPr>
        <a:xfrm>
          <a:off x="5439131" y="242843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Computer vision based approaches</a:t>
          </a:r>
          <a:endParaRPr lang="en-US" sz="2200" kern="1200"/>
        </a:p>
      </dsp:txBody>
      <dsp:txXfrm>
        <a:off x="5439131" y="2428431"/>
        <a:ext cx="2072362" cy="720000"/>
      </dsp:txXfrm>
    </dsp:sp>
    <dsp:sp modelId="{D400C18D-6DFA-4F57-9783-34B7C04F1ED2}">
      <dsp:nvSpPr>
        <dsp:cNvPr id="0" name=""/>
        <dsp:cNvSpPr/>
      </dsp:nvSpPr>
      <dsp:spPr>
        <a:xfrm>
          <a:off x="8444057" y="1204112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C30DA-7FAC-4ECA-AE48-181C0AFBE066}">
      <dsp:nvSpPr>
        <dsp:cNvPr id="0" name=""/>
        <dsp:cNvSpPr/>
      </dsp:nvSpPr>
      <dsp:spPr>
        <a:xfrm>
          <a:off x="7874157" y="242843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Existing Apps</a:t>
          </a:r>
          <a:endParaRPr lang="en-US" sz="2200" kern="1200"/>
        </a:p>
      </dsp:txBody>
      <dsp:txXfrm>
        <a:off x="7874157" y="2428431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4DB5E-A870-4FAA-8DAC-F94D4B9BBEBF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82ACC-1661-4709-9A44-09F120A7B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80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309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340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510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106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IN"/>
              <a:t>"We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Python</a:t>
            </a:r>
            <a:r>
              <a:rPr lang="en-IN"/>
              <a:t> for development.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TensorFlow/</a:t>
            </a:r>
            <a:r>
              <a:rPr lang="en-IN" b="1" err="1"/>
              <a:t>Keras</a:t>
            </a:r>
            <a:r>
              <a:rPr lang="en-IN"/>
              <a:t> for building the CNN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OpenCV</a:t>
            </a:r>
            <a:r>
              <a:rPr lang="en-IN"/>
              <a:t> for image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SQLite</a:t>
            </a:r>
            <a:r>
              <a:rPr lang="en-IN"/>
              <a:t> for simple local data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pyttsx3</a:t>
            </a:r>
            <a:r>
              <a:rPr lang="en-IN"/>
              <a:t> library to convert text outputs to voice."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719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"Here’s how we built our project step-by-step: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First, we </a:t>
            </a:r>
            <a:r>
              <a:rPr lang="en-US" b="1"/>
              <a:t>captured and labeled images</a:t>
            </a:r>
            <a:r>
              <a:rPr lang="en-US"/>
              <a:t> of different hand gestures.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Then, we </a:t>
            </a:r>
            <a:r>
              <a:rPr lang="en-US" b="1"/>
              <a:t>set up a hand histogram</a:t>
            </a:r>
            <a:r>
              <a:rPr lang="en-US"/>
              <a:t> to easily separate the hand from the background.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After that, we </a:t>
            </a:r>
            <a:r>
              <a:rPr lang="en-US" b="1"/>
              <a:t>augmented the data</a:t>
            </a:r>
            <a:r>
              <a:rPr lang="en-US"/>
              <a:t> by flipping and adjusting the images to make our model stronger.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Next, we </a:t>
            </a:r>
            <a:r>
              <a:rPr lang="en-US" b="1"/>
              <a:t>preprocessed</a:t>
            </a:r>
            <a:r>
              <a:rPr lang="en-US"/>
              <a:t> the images — turning them into grayscale, normalizing them, and splitting into training and testing 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We then </a:t>
            </a:r>
            <a:r>
              <a:rPr lang="en-US" b="1"/>
              <a:t>trained a CNN model</a:t>
            </a:r>
            <a:r>
              <a:rPr lang="en-US"/>
              <a:t> to recognize the gestures and saved the best version.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Finally, we achieved </a:t>
            </a:r>
            <a:r>
              <a:rPr lang="en-US" b="1"/>
              <a:t>real-time gesture recognition</a:t>
            </a:r>
            <a:r>
              <a:rPr lang="en-US"/>
              <a:t>, where the system turns gestures into text and speech instantly."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255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In our project, we faced some challenges: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First, we got  </a:t>
            </a:r>
            <a:r>
              <a:rPr lang="en-US" b="1"/>
              <a:t>low accuracy</a:t>
            </a:r>
            <a:r>
              <a:rPr lang="en-US"/>
              <a:t> when it came to recognizing </a:t>
            </a:r>
            <a:r>
              <a:rPr lang="en-US" b="1"/>
              <a:t>complex gestures</a:t>
            </a:r>
            <a:r>
              <a:rPr lang="en-US"/>
              <a:t> that had different movements.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Second, the </a:t>
            </a:r>
            <a:r>
              <a:rPr lang="en-US" b="1"/>
              <a:t>background noise</a:t>
            </a:r>
            <a:r>
              <a:rPr lang="en-US"/>
              <a:t> from the camera feed sometimes confused the model which made the recognition harder.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Finally, </a:t>
            </a:r>
            <a:r>
              <a:rPr lang="en-US" b="1"/>
              <a:t>sign variation across different users</a:t>
            </a:r>
            <a:r>
              <a:rPr lang="en-US"/>
              <a:t> —its like different hand shapes or signing styles which made it difficult for the model to stay consistent."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635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 overcome the mentioned before challenges, we took three main steps: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We </a:t>
            </a:r>
            <a:r>
              <a:rPr lang="en-US" b="1"/>
              <a:t>increased the dataset size</a:t>
            </a:r>
            <a:r>
              <a:rPr lang="en-US"/>
              <a:t> and applied </a:t>
            </a:r>
            <a:r>
              <a:rPr lang="en-US" b="1"/>
              <a:t>data augmentation</a:t>
            </a:r>
            <a:r>
              <a:rPr lang="en-US"/>
              <a:t> to make the model learn better variations.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We </a:t>
            </a:r>
            <a:r>
              <a:rPr lang="en-US" b="1"/>
              <a:t>applied image thresholding</a:t>
            </a:r>
            <a:r>
              <a:rPr lang="en-US"/>
              <a:t> and </a:t>
            </a:r>
            <a:r>
              <a:rPr lang="en-US" b="1"/>
              <a:t>hand segmentation</a:t>
            </a:r>
            <a:r>
              <a:rPr lang="en-US"/>
              <a:t> to clean up the background and focus just on the hand gestures.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Finally, we </a:t>
            </a:r>
            <a:r>
              <a:rPr lang="en-US" b="1"/>
              <a:t>added multiple variations for each gesture</a:t>
            </a:r>
            <a:r>
              <a:rPr lang="en-US"/>
              <a:t>, so the model could generalize better across different users.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714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In our project, we focused on several strategies to make the system more trustworthy: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For </a:t>
            </a:r>
            <a:r>
              <a:rPr lang="en-US" b="1"/>
              <a:t>Fairness</a:t>
            </a:r>
            <a:r>
              <a:rPr lang="en-US"/>
              <a:t>, We didn’t run a big user study, but while preparing the data, we included hand signs from different kinds of people so that the model treats everyone fairly.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For </a:t>
            </a:r>
            <a:r>
              <a:rPr lang="en-US" b="1"/>
              <a:t>Robustness</a:t>
            </a:r>
            <a:r>
              <a:rPr lang="en-US"/>
              <a:t>, we tested the model under different lighting, motion blur, and backgrounds to check if it stays accurate in real-world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We used </a:t>
            </a:r>
            <a:r>
              <a:rPr lang="en-US" b="1"/>
              <a:t>Data Augmentation</a:t>
            </a:r>
            <a:r>
              <a:rPr lang="en-US"/>
              <a:t> techniques like rotation, brightness changes, and flipping images to create more training examples and cover more variations.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Lastly, with </a:t>
            </a:r>
            <a:r>
              <a:rPr lang="en-US" b="1"/>
              <a:t>Continuous Validation</a:t>
            </a:r>
            <a:r>
              <a:rPr lang="en-US"/>
              <a:t>, we regularly checked where the model was making mistakes and retrained it to keep improving accuracy."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838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now, we will see how we made our model more trustworthy. Like how </a:t>
            </a:r>
            <a:br>
              <a:rPr lang="en-US"/>
            </a:br>
            <a:r>
              <a:rPr lang="en-US"/>
              <a:t>We focused on key areas like robustness, fairness, and consistent validation,</a:t>
            </a:r>
            <a:br>
              <a:rPr lang="en-US"/>
            </a:br>
            <a:r>
              <a:rPr lang="en-US"/>
              <a:t>by making sure that the system works reliably in different conditions and for all kinds of users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2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To make our model fair, we used a diverse dataset that included gestures from different age groups and genders. next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also tested fairness using two important metrics: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First one is Demographic Parity</a:t>
            </a:r>
            <a:r>
              <a:rPr lang="en-US" dirty="0"/>
              <a:t> which means the model should predict gestures equally for all groups, ignoring the age and gender.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Then the Second one is Equal Opportunity</a:t>
            </a:r>
            <a:r>
              <a:rPr lang="en-US" dirty="0"/>
              <a:t> it checks if the model is good at recognizing correct gestures for everyone equally.</a:t>
            </a:r>
            <a:br>
              <a:rPr lang="en-US" dirty="0"/>
            </a:br>
            <a:r>
              <a:rPr lang="en-US" dirty="0"/>
              <a:t>finally, these steps helped us in making sure that our model treats all users fairly.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681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graph here shows how our model is performing across different age groups like Kids, Adults, and Seniors.</a:t>
            </a:r>
            <a:br>
              <a:rPr lang="en-US"/>
            </a:br>
            <a:r>
              <a:rPr lang="en-US"/>
              <a:t>As you can see, the accuracy is quite high for all groups but slightly lower for Seniors which is still very close.</a:t>
            </a:r>
            <a:br>
              <a:rPr lang="en-US"/>
            </a:br>
            <a:r>
              <a:rPr lang="en-US"/>
              <a:t>This is indicating that our model is generally fair and consistent across different age groups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041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Similarly this graph shows model accuracy for male and female participants.</a:t>
            </a:r>
            <a:br>
              <a:rPr lang="en-US"/>
            </a:br>
            <a:r>
              <a:rPr lang="en-US"/>
              <a:t>The model performs slightly better for males but still maintains high accuracy for both genders.</a:t>
            </a:r>
            <a:br>
              <a:rPr lang="en-US"/>
            </a:br>
            <a:r>
              <a:rPr lang="en-US"/>
              <a:t>This shows that our system is also fair across different gender groups.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8429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/>
              <a:t>We calculated fairness metrics to check how equally our model works across gender and age groups. As we can see </a:t>
            </a:r>
            <a:br>
              <a:rPr lang="en-US" i="1"/>
            </a:br>
            <a:r>
              <a:rPr lang="en-US" i="1"/>
              <a:t>For gender, the accuracy for males was 97.01% and for females it is around 92.79%, with a small demographic parity gap of about 4%.</a:t>
            </a:r>
            <a:br>
              <a:rPr lang="en-US" i="1"/>
            </a:br>
            <a:r>
              <a:rPr lang="en-US" i="1"/>
              <a:t>For age groups, kids and adults had about </a:t>
            </a:r>
            <a:r>
              <a:rPr lang="en-US" i="1" err="1"/>
              <a:t>about</a:t>
            </a:r>
            <a:r>
              <a:rPr lang="en-US" i="1"/>
              <a:t> 97% accuracy, whereas seniors has slightly lower accuracy around 90%, with a gap of around 7.7%.</a:t>
            </a:r>
            <a:br>
              <a:rPr lang="en-US" i="1"/>
            </a:br>
            <a:r>
              <a:rPr lang="en-US" i="1"/>
              <a:t>These small gaps show that while the model is fairly consistent, there is still some room for improvement, especially for seniors and females.</a:t>
            </a:r>
            <a:br>
              <a:rPr lang="en-US" i="1"/>
            </a:br>
            <a:r>
              <a:rPr lang="en-US" i="1"/>
              <a:t>Overall, the fairness scores are quite good and suggest the model works reliably across diverse users."</a:t>
            </a:r>
            <a:endParaRPr lang="en-US"/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7740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make our model strong and reliable, we tested it under real-world conditions like different lighting, backgrounds, and camera quality.</a:t>
            </a:r>
            <a:br>
              <a:rPr lang="en-US" dirty="0"/>
            </a:br>
            <a:r>
              <a:rPr lang="en-US" dirty="0"/>
              <a:t>We made sure that the model could tolerate noise, like blurry images or small background disturbances.</a:t>
            </a:r>
            <a:br>
              <a:rPr lang="en-US" dirty="0"/>
            </a:br>
            <a:r>
              <a:rPr lang="en-US" dirty="0"/>
              <a:t>To prevent overfitting, we used techniques like data augmentation during training.</a:t>
            </a:r>
            <a:br>
              <a:rPr lang="en-US" dirty="0"/>
            </a:br>
            <a:r>
              <a:rPr lang="en-US" dirty="0"/>
              <a:t>We also checked how the model reacts to small input errors — like if a hand is not perfectly centered — and made sure it still predicts correctly.</a:t>
            </a:r>
            <a:br>
              <a:rPr lang="en-US" dirty="0"/>
            </a:br>
            <a:r>
              <a:rPr lang="en-US" dirty="0"/>
              <a:t>Finally, we kept testing continuously to catch and fix problems early, making the model more </a:t>
            </a:r>
            <a:r>
              <a:rPr lang="en-US" dirty="0" err="1"/>
              <a:t>resistent</a:t>
            </a:r>
            <a:r>
              <a:rPr lang="en-US" dirty="0"/>
              <a:t> for real-world use</a:t>
            </a:r>
          </a:p>
          <a:p>
            <a:r>
              <a:rPr lang="en-US" dirty="0"/>
              <a:t>The pictures show how our model is recognizing hand gestures even in different backgrounds, lighting, and angles.</a:t>
            </a:r>
            <a:br>
              <a:rPr lang="en-US" dirty="0"/>
            </a:br>
            <a:r>
              <a:rPr lang="en-US" dirty="0"/>
              <a:t>Despite changes like brightness, cluttered backgrounds, or camera quality, the model still correctly detects the hand region and predicts the right gesture, which proves its robustness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94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i="1"/>
              <a:t>in our project, I worked on the fairness evaluation. I ensured we had a diverse dataset by including different age groups and genders. I also helped in analyzing how the model performed across different user groups and suggested ways to make it more fair."</a:t>
            </a:r>
            <a:endParaRPr lang="en-US"/>
          </a:p>
          <a:p>
            <a:pPr>
              <a:buNone/>
            </a:pPr>
            <a:r>
              <a:rPr lang="en-US" i="1"/>
              <a:t>"My teammate Vishal Varma </a:t>
            </a:r>
            <a:r>
              <a:rPr lang="en-US" i="1" err="1"/>
              <a:t>Vuddaraju</a:t>
            </a:r>
            <a:r>
              <a:rPr lang="en-US" i="1"/>
              <a:t> handled robustness testing. He created different real-world scenarios, like changing lighting, adding motion blur, and different backgrounds to make sure our model is stable and reliable."</a:t>
            </a:r>
            <a:endParaRPr lang="en-US"/>
          </a:p>
          <a:p>
            <a:r>
              <a:rPr lang="en-US" i="1"/>
              <a:t>"Srinija Reddy </a:t>
            </a:r>
            <a:r>
              <a:rPr lang="en-US" i="1" err="1"/>
              <a:t>Maddula</a:t>
            </a:r>
            <a:r>
              <a:rPr lang="en-US" i="1"/>
              <a:t> focused on documentation and reporting. She compiled the final results, created performance visualizations, and summarized all the trustworthiness improvements in a clear and organized way</a:t>
            </a:r>
            <a:endParaRPr lang="en-US"/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188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future, we can make our system even more accessible by deploying it as a mobile app, so users can easily use it</a:t>
            </a:r>
            <a:br>
              <a:rPr lang="en-US"/>
            </a:br>
            <a:r>
              <a:rPr lang="en-US"/>
              <a:t>We can also integrate our model with virtual assistants like Alexa and Google Assistant to make communication even smoother.</a:t>
            </a:r>
            <a:br>
              <a:rPr lang="en-US"/>
            </a:br>
            <a:r>
              <a:rPr lang="en-US"/>
              <a:t>We can improve continuous gesture recognition, allowing the system to understand gestures in real-time without need of any pause after every sign.</a:t>
            </a:r>
            <a:br>
              <a:rPr lang="en-US"/>
            </a:br>
            <a:r>
              <a:rPr lang="en-US"/>
              <a:t>Finally, we can expand our project to support multiple sign languages, making it useful for a larger and more diverse audience.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0387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conclude, we successfully built a real-time sign language interpreter using CNN and OpenCV.</a:t>
            </a:r>
            <a:br>
              <a:rPr lang="en-US"/>
            </a:br>
            <a:r>
              <a:rPr lang="en-US"/>
              <a:t>Our system achieved high accuracy in recognizing gestures and worked well even under different real-world conditions.</a:t>
            </a:r>
            <a:br>
              <a:rPr lang="en-US"/>
            </a:br>
            <a:r>
              <a:rPr lang="en-US"/>
              <a:t>We also focused on fairness by using diverse datasets and tested robustness to ensure reliability.</a:t>
            </a:r>
            <a:br>
              <a:rPr lang="en-US"/>
            </a:br>
            <a:r>
              <a:rPr lang="en-US"/>
              <a:t>Overall, our system delivers quick and accurate text and voice outputs, making communication easier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2ACC-1661-4709-9A44-09F120A7B485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79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C7C9-EB09-A497-55E4-F9D5E4A84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A33F27-1DDA-811B-FC5A-2DDF6372B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53DC1-47AA-E739-5205-49513797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854-DAB2-482A-ABD5-CE028972520D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04C00-BF53-AE0D-73B4-E56900030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3923C-02FD-E5F6-DF9D-AF9BE4CD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A521-EBD3-4D5F-A8A5-4F5F95832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34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FDAA9-E227-C472-B892-455E97AEB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F35A-630C-065C-CBAA-90D3094AA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FA4A7-EC7C-7D8D-440F-747A93343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854-DAB2-482A-ABD5-CE028972520D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4032A-7496-A8D3-62AA-1638482E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2F4CA-6243-B289-DD46-435A2F4A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A521-EBD3-4D5F-A8A5-4F5F95832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82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C5A8-A629-3DE3-92AE-EFE5FA595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C1791-C9D2-F481-1DED-3F2DAC31B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EC05C-52DD-B137-8CAB-21D21160D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854-DAB2-482A-ABD5-CE028972520D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47761-55CC-FBBB-867E-A1651282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32194-FEB2-401D-F7C4-A3BA19CF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A521-EBD3-4D5F-A8A5-4F5F95832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14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7EF46-F140-6D77-1DA4-9895F6848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337E-392E-92E7-A3DE-C192FE29F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783DF-5645-E486-6790-400F939F5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DF92F-F58C-16D1-D951-C8925EFF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854-DAB2-482A-ABD5-CE028972520D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B6034-0CBD-0259-3811-60AA95BD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CA31D-9382-BE63-E9BC-437E9766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A521-EBD3-4D5F-A8A5-4F5F95832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321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3C29B-56A5-3D8D-8843-3C57C7954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7A487-9E98-E010-A9CA-7172D8D53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3BEC2-9F66-E109-7DE2-C0AE34AF0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06AB4C-AE7D-E8EB-7527-217B7CE7E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12C1D-9ED1-D5A5-063A-740F00A90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0DD419-A123-03F4-3E96-EC07F95AF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854-DAB2-482A-ABD5-CE028972520D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5C53E-E22B-8500-BDEB-B61C16ED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E1A8B-5AF9-659D-DA41-ABC80E03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A521-EBD3-4D5F-A8A5-4F5F95832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548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C3FCA-0B42-2924-A3DD-B3B5AAB9D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BFB8E-EAF3-6BDC-8C65-D7BD1C1BA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854-DAB2-482A-ABD5-CE028972520D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493C3-AAF9-BE65-A297-2DD637B7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0E5EF-810E-103A-2375-978B70A0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A521-EBD3-4D5F-A8A5-4F5F95832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72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A062C-31E0-B5BC-F4A1-1C91CB6A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854-DAB2-482A-ABD5-CE028972520D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4B628-95D2-69CC-19CB-04A232C8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2BFC0-95AB-D3DC-6C26-C1098E83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A521-EBD3-4D5F-A8A5-4F5F95832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48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2FE9-0A8E-4DB9-3028-E311B2D25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74013-A5F0-F930-ABF2-062F1D299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30621-BB11-AEFD-2233-7AF1151A3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41C6C-7F84-C789-1EFE-85D7C8F0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854-DAB2-482A-ABD5-CE028972520D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A45FC-E044-62A0-0D9C-090892DD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650C2-8070-3222-F887-6DC61C95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A521-EBD3-4D5F-A8A5-4F5F95832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889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046D-72F9-919B-5F92-404496EFB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E501A-5675-111F-4FA7-E0CFA5479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81732-50E7-BD88-C7F3-1E4628126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E4511-FDD1-01A8-1B54-1DD8F6E46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854-DAB2-482A-ABD5-CE028972520D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CA8D6-B8E3-3B98-E3B8-8FE2983D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8B3C5-E46A-EDFD-94C7-CAD996A3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A521-EBD3-4D5F-A8A5-4F5F95832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200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E490-0F5E-865C-6C7C-ADB4C3100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1C831-8A19-C3F4-F563-C3886B264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A5C6F-41A1-8223-5589-6BB71E9FA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854-DAB2-482A-ABD5-CE028972520D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FE7CC-607B-49F9-8FCA-022448754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C22FA-C8D8-2C07-8BC7-2BCDE999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A521-EBD3-4D5F-A8A5-4F5F95832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416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176731-176F-36B6-C9D1-E208D38F6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A015B-0067-C064-488A-492C8AFB8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5A2BB-0AB0-7826-B47E-FE96DCFEC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854-DAB2-482A-ABD5-CE028972520D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CFF65-70E9-0D05-7A99-F4E5D147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478E9-CA43-E4FA-967B-5645D0DF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A521-EBD3-4D5F-A8A5-4F5F95832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488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D7E3E-5D44-2A83-A3D0-9035139C1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92F4F-91DD-C835-1A47-D336157DC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A161A-1EB1-A98A-3ADA-E321936BD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1D854-DAB2-482A-ABD5-CE028972520D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53003-F288-2C96-C4D4-90D3AD09E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9DBEE-21FF-8A2B-9EA3-B9241BDF6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3A521-EBD3-4D5F-A8A5-4F5F95832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55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vgsilh.com/image/40668.html" TargetMode="External"/><Relationship Id="rId5" Type="http://schemas.openxmlformats.org/officeDocument/2006/relationships/image" Target="../media/image21.svg"/><Relationship Id="rId10" Type="http://schemas.openxmlformats.org/officeDocument/2006/relationships/image" Target="../media/image2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&amp;#39;s hands on a computer keyboard&#10;&#10;AI-generated content may be incorrect.">
            <a:extLst>
              <a:ext uri="{FF2B5EF4-FFF2-40B4-BE49-F238E27FC236}">
                <a16:creationId xmlns:a16="http://schemas.microsoft.com/office/drawing/2014/main" id="{1D936A9E-C68D-572C-C149-EF9D62E5B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611" y="0"/>
            <a:ext cx="5559552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96589F-8C3D-61C3-641B-046636818B4B}"/>
              </a:ext>
            </a:extLst>
          </p:cNvPr>
          <p:cNvSpPr txBox="1"/>
          <p:nvPr/>
        </p:nvSpPr>
        <p:spPr>
          <a:xfrm>
            <a:off x="204061" y="1560163"/>
            <a:ext cx="643696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latin typeface="Montserrat"/>
              </a:rPr>
              <a:t>Real-Time Sign Language Interpretation</a:t>
            </a:r>
            <a:endParaRPr lang="en-US" sz="3600">
              <a:latin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6F196-0694-E568-83CD-F3C2EB1DE16B}"/>
              </a:ext>
            </a:extLst>
          </p:cNvPr>
          <p:cNvSpPr txBox="1"/>
          <p:nvPr/>
        </p:nvSpPr>
        <p:spPr>
          <a:xfrm>
            <a:off x="204062" y="3071247"/>
            <a:ext cx="60236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Montserrat"/>
              </a:rPr>
              <a:t>Bridging Communication Gaps with Innovative Technology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2384FC-4E6E-D251-713D-117813FDAAC9}"/>
              </a:ext>
            </a:extLst>
          </p:cNvPr>
          <p:cNvSpPr txBox="1"/>
          <p:nvPr/>
        </p:nvSpPr>
        <p:spPr>
          <a:xfrm>
            <a:off x="238433" y="4097594"/>
            <a:ext cx="42180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313131"/>
                </a:solidFill>
                <a:latin typeface="Montserrat"/>
              </a:rPr>
              <a:t>INSTRUCTOR : </a:t>
            </a:r>
            <a:r>
              <a:rPr lang="en-US" err="1">
                <a:solidFill>
                  <a:srgbClr val="313131"/>
                </a:solidFill>
                <a:latin typeface="Montserrat"/>
              </a:rPr>
              <a:t>Guangjing</a:t>
            </a:r>
            <a:r>
              <a:rPr lang="en-US">
                <a:solidFill>
                  <a:srgbClr val="313131"/>
                </a:solidFill>
                <a:latin typeface="Montserrat"/>
              </a:rPr>
              <a:t> Wang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0B131-FF9B-E72B-CAFB-B14E681AB2BC}"/>
              </a:ext>
            </a:extLst>
          </p:cNvPr>
          <p:cNvSpPr txBox="1"/>
          <p:nvPr/>
        </p:nvSpPr>
        <p:spPr>
          <a:xfrm>
            <a:off x="238432" y="4466303"/>
            <a:ext cx="507836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Montserrat"/>
              </a:rPr>
              <a:t>Presenters:      Srinija Reddy Maddula</a:t>
            </a:r>
          </a:p>
          <a:p>
            <a:r>
              <a:rPr lang="en-US">
                <a:latin typeface="Montserrat"/>
              </a:rPr>
              <a:t>                         Rasmitha Chinthalapally</a:t>
            </a:r>
          </a:p>
          <a:p>
            <a:r>
              <a:rPr lang="en-US">
                <a:latin typeface="Montserrat"/>
              </a:rPr>
              <a:t>                            Vishal Varma Vuddaraju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FEF0380-F8F7-2B98-BC58-8ADE79F94A39}"/>
              </a:ext>
            </a:extLst>
          </p:cNvPr>
          <p:cNvCxnSpPr/>
          <p:nvPr/>
        </p:nvCxnSpPr>
        <p:spPr>
          <a:xfrm>
            <a:off x="227452" y="2908733"/>
            <a:ext cx="6209489" cy="27189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6C53C9F-43F3-1273-EF92-9CBDAF8BA7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96" r="3596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8449CE-E142-3E55-F8F7-196317A3A505}"/>
              </a:ext>
            </a:extLst>
          </p:cNvPr>
          <p:cNvSpPr txBox="1"/>
          <p:nvPr/>
        </p:nvSpPr>
        <p:spPr>
          <a:xfrm>
            <a:off x="319275" y="5517869"/>
            <a:ext cx="1968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Montserrat" panose="00000500000000000000" pitchFamily="2" charset="0"/>
              </a:rPr>
              <a:t>Group 10</a:t>
            </a:r>
          </a:p>
        </p:txBody>
      </p:sp>
    </p:spTree>
    <p:extLst>
      <p:ext uri="{BB962C8B-B14F-4D97-AF65-F5344CB8AC3E}">
        <p14:creationId xmlns:p14="http://schemas.microsoft.com/office/powerpoint/2010/main" val="2408251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using a computer and headphones on a white table&#10;&#10;AI-generated content may be incorrect.">
            <a:extLst>
              <a:ext uri="{FF2B5EF4-FFF2-40B4-BE49-F238E27FC236}">
                <a16:creationId xmlns:a16="http://schemas.microsoft.com/office/drawing/2014/main" id="{F4CCDEB9-7B1A-881D-613B-D1EB51EDC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47" y="671592"/>
            <a:ext cx="6247941" cy="53856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C312EB-D1B5-4208-46BD-47F3FE3EDA63}"/>
              </a:ext>
            </a:extLst>
          </p:cNvPr>
          <p:cNvSpPr txBox="1"/>
          <p:nvPr/>
        </p:nvSpPr>
        <p:spPr>
          <a:xfrm>
            <a:off x="7462434" y="1908874"/>
            <a:ext cx="4060555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313131"/>
                </a:solidFill>
                <a:latin typeface="Montserrat"/>
              </a:rPr>
              <a:t>Sign language interpretation is crucial for effective communication with the deaf and hard-of-hearing community. Despite its importance, there is a significant shortage of qualified interpreters, leading to communication barriers. Sign Language Interpreter, aims to address this issue by leveraging advanced technology to provide accessible and efficient interpretation services.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DB5B6F-D43E-2999-3033-1DA77562501B}"/>
              </a:ext>
            </a:extLst>
          </p:cNvPr>
          <p:cNvSpPr txBox="1"/>
          <p:nvPr/>
        </p:nvSpPr>
        <p:spPr>
          <a:xfrm>
            <a:off x="7462433" y="940229"/>
            <a:ext cx="376350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rgbClr val="313131"/>
                </a:solidFill>
                <a:latin typeface="Montserrat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704C3-731E-2788-B34D-E94D9AF108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96" r="3596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7B2448-E542-C64D-AC41-7473D62C8C2C}"/>
              </a:ext>
            </a:extLst>
          </p:cNvPr>
          <p:cNvSpPr txBox="1"/>
          <p:nvPr/>
        </p:nvSpPr>
        <p:spPr>
          <a:xfrm>
            <a:off x="619959" y="6454871"/>
            <a:ext cx="2188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1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561307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67A5186C-3438-4D83-A03D-BD8A5E2D4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540DFB4-867C-E2BB-EE93-8ED16E271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9E562-3EC5-9F02-5EAC-07AC44C88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1423" y="249113"/>
            <a:ext cx="7015496" cy="14358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b="1"/>
              <a:t>Motivation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3BE54A-234D-C606-4092-3AC9D157AE62}"/>
              </a:ext>
            </a:extLst>
          </p:cNvPr>
          <p:cNvSpPr txBox="1"/>
          <p:nvPr/>
        </p:nvSpPr>
        <p:spPr>
          <a:xfrm>
            <a:off x="1624739" y="3019586"/>
            <a:ext cx="9738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ea typeface="Calibri"/>
                <a:cs typeface="Calibri"/>
              </a:rPr>
              <a:t>5%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A34D81-FAC1-3692-DAF6-ACF6A9EA7B61}"/>
              </a:ext>
            </a:extLst>
          </p:cNvPr>
          <p:cNvSpPr txBox="1"/>
          <p:nvPr/>
        </p:nvSpPr>
        <p:spPr>
          <a:xfrm>
            <a:off x="5460569" y="3019585"/>
            <a:ext cx="128377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ea typeface="Calibri"/>
                <a:cs typeface="Calibri"/>
              </a:rPr>
              <a:t>72%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352F87-DAE5-4866-A315-50817D92054C}"/>
              </a:ext>
            </a:extLst>
          </p:cNvPr>
          <p:cNvSpPr txBox="1"/>
          <p:nvPr/>
        </p:nvSpPr>
        <p:spPr>
          <a:xfrm>
            <a:off x="9386807" y="3019585"/>
            <a:ext cx="14000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ea typeface="Calibri"/>
                <a:cs typeface="Calibri"/>
              </a:rPr>
              <a:t>75%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5CF525-FD48-4988-0B20-D4C4BA45BBB7}"/>
              </a:ext>
            </a:extLst>
          </p:cNvPr>
          <p:cNvSpPr txBox="1"/>
          <p:nvPr/>
        </p:nvSpPr>
        <p:spPr>
          <a:xfrm>
            <a:off x="4608163" y="3846163"/>
            <a:ext cx="29885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313131"/>
                </a:solidFill>
                <a:latin typeface="Montserrat"/>
                <a:ea typeface="Montserrat"/>
                <a:cs typeface="Montserrat"/>
              </a:rPr>
              <a:t>Families don’t sign with Deaf children</a:t>
            </a:r>
            <a:endParaRPr lang="en-US">
              <a:solidFill>
                <a:srgbClr val="313131"/>
              </a:solidFill>
              <a:latin typeface="var(--paragraph-font)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67FC0B-5DED-4194-345C-2D06215185A4}"/>
              </a:ext>
            </a:extLst>
          </p:cNvPr>
          <p:cNvSpPr txBox="1"/>
          <p:nvPr/>
        </p:nvSpPr>
        <p:spPr>
          <a:xfrm>
            <a:off x="552773" y="3846163"/>
            <a:ext cx="35439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313131"/>
                </a:solidFill>
                <a:latin typeface="Montserrat"/>
              </a:rPr>
              <a:t>Use sign language globally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6EE93B-D24B-06AA-06A3-9355C6F6BDB8}"/>
              </a:ext>
            </a:extLst>
          </p:cNvPr>
          <p:cNvSpPr txBox="1"/>
          <p:nvPr/>
        </p:nvSpPr>
        <p:spPr>
          <a:xfrm>
            <a:off x="8715214" y="3884908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313131"/>
                </a:solidFill>
                <a:latin typeface="Montserrat"/>
              </a:rPr>
              <a:t>Deaf individuals face job challenges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2DAE1-6AD8-AC54-AE19-B0C88C90BF98}"/>
              </a:ext>
            </a:extLst>
          </p:cNvPr>
          <p:cNvSpPr txBox="1"/>
          <p:nvPr/>
        </p:nvSpPr>
        <p:spPr>
          <a:xfrm>
            <a:off x="2076773" y="5150603"/>
            <a:ext cx="801262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Montserrat"/>
              </a:rPr>
              <a:t>Need for real-time, AI-based sign language interpretation</a:t>
            </a:r>
            <a:endParaRPr lang="en-US" sz="2000" b="1">
              <a:solidFill>
                <a:schemeClr val="bg1"/>
              </a:solidFill>
              <a:latin typeface="Montserrat"/>
            </a:endParaRPr>
          </a:p>
        </p:txBody>
      </p:sp>
      <p:pic>
        <p:nvPicPr>
          <p:cNvPr id="6" name="Picture 5" descr="A logo with green text&#10;&#10;AI-generated content may be incorrect.">
            <a:extLst>
              <a:ext uri="{FF2B5EF4-FFF2-40B4-BE49-F238E27FC236}">
                <a16:creationId xmlns:a16="http://schemas.microsoft.com/office/drawing/2014/main" id="{F3C15442-00D8-C3D4-3BE9-B1CA732F39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62" t="27027" r="73034" b="29730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F0AC34-2988-8463-4388-79C4DD52BC3D}"/>
              </a:ext>
            </a:extLst>
          </p:cNvPr>
          <p:cNvSpPr txBox="1"/>
          <p:nvPr/>
        </p:nvSpPr>
        <p:spPr>
          <a:xfrm>
            <a:off x="619959" y="6454871"/>
            <a:ext cx="2188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2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18515507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9" grpId="0"/>
      <p:bldP spid="10" grpId="0"/>
      <p:bldP spid="11" grpId="0"/>
      <p:bldP spid="14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E301-8777-B3AF-585A-F86DD59F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sz="5200"/>
              <a:t>Related work	</a:t>
            </a:r>
            <a:endParaRPr lang="en-US" sz="5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C206FF-264F-0FAF-EA51-529154E110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7753727"/>
              </p:ext>
            </p:extLst>
          </p:nvPr>
        </p:nvGraphicFramePr>
        <p:xfrm>
          <a:off x="838200" y="1699647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3" name="Picture 32" descr="A logo with green text&#10;&#10;AI-generated content may be incorrect.">
            <a:extLst>
              <a:ext uri="{FF2B5EF4-FFF2-40B4-BE49-F238E27FC236}">
                <a16:creationId xmlns:a16="http://schemas.microsoft.com/office/drawing/2014/main" id="{865F1AE2-07D0-0797-1A3C-529CB384A47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562" t="27027" r="73034" b="29730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BBC46DA-B307-D1AB-C5EE-521A8FC4BC90}"/>
              </a:ext>
            </a:extLst>
          </p:cNvPr>
          <p:cNvSpPr txBox="1"/>
          <p:nvPr/>
        </p:nvSpPr>
        <p:spPr>
          <a:xfrm>
            <a:off x="619959" y="6454871"/>
            <a:ext cx="2188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9117805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C3392-EA6D-E3E5-FF8E-FBA2D2DE2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105" y="1084882"/>
            <a:ext cx="4430129" cy="1269124"/>
          </a:xfrm>
        </p:spPr>
        <p:txBody>
          <a:bodyPr anchor="ctr">
            <a:normAutofit/>
          </a:bodyPr>
          <a:lstStyle/>
          <a:p>
            <a:r>
              <a:rPr lang="en-IN" sz="4000"/>
              <a:t>Proposed solution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FB1F88-7432-E31B-277A-438346191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684" y="2528065"/>
            <a:ext cx="5347112" cy="2077937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313131"/>
                </a:solidFill>
                <a:latin typeface="Montserrat"/>
              </a:rPr>
              <a:t>Real-time Hand Gesture Recognition using CNN &amp; OpenCV.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313131"/>
                </a:solidFill>
                <a:latin typeface="Montserrat"/>
              </a:rPr>
              <a:t>Converts hand gestures into text &amp; voice output.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313131"/>
                </a:solidFill>
                <a:latin typeface="Montserrat"/>
              </a:rPr>
              <a:t>Offline Mode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313131"/>
                </a:solidFill>
                <a:latin typeface="Montserrat"/>
              </a:rPr>
              <a:t>Scalable &amp; Extendable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313131"/>
                </a:solidFill>
                <a:latin typeface="Montserrat"/>
              </a:rPr>
              <a:t>Real-time processing for seamless communication.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</p:txBody>
      </p:sp>
      <p:pic>
        <p:nvPicPr>
          <p:cNvPr id="6" name="Content Placeholder 5" descr="A close-up of a puzzle&#10;&#10;AI-generated content may be incorrect.">
            <a:extLst>
              <a:ext uri="{FF2B5EF4-FFF2-40B4-BE49-F238E27FC236}">
                <a16:creationId xmlns:a16="http://schemas.microsoft.com/office/drawing/2014/main" id="{8AB0D925-0C5A-D82F-3572-063EC8FEF9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60" r="-1" b="11984"/>
          <a:stretch/>
        </p:blipFill>
        <p:spPr>
          <a:xfrm>
            <a:off x="6108713" y="2029"/>
            <a:ext cx="6083288" cy="6855971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C4B339-9E1E-FE25-5151-7C7E1EF38275}"/>
              </a:ext>
            </a:extLst>
          </p:cNvPr>
          <p:cNvCxnSpPr/>
          <p:nvPr/>
        </p:nvCxnSpPr>
        <p:spPr>
          <a:xfrm>
            <a:off x="549299" y="2096921"/>
            <a:ext cx="4911056" cy="836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3" descr="A logo with green text&#10;&#10;AI-generated content may be incorrect.">
            <a:extLst>
              <a:ext uri="{FF2B5EF4-FFF2-40B4-BE49-F238E27FC236}">
                <a16:creationId xmlns:a16="http://schemas.microsoft.com/office/drawing/2014/main" id="{A1F6FD19-5D58-2593-D1A0-4E991D17C3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62" t="27027" r="73034" b="29730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5D6F6F-35C9-A5FF-7EBC-17FD1D8C4CC1}"/>
              </a:ext>
            </a:extLst>
          </p:cNvPr>
          <p:cNvSpPr txBox="1"/>
          <p:nvPr/>
        </p:nvSpPr>
        <p:spPr>
          <a:xfrm>
            <a:off x="619959" y="6454871"/>
            <a:ext cx="2188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4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127572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oup of square silver and black objects&#10;&#10;AI-generated content may be incorrect.">
            <a:extLst>
              <a:ext uri="{FF2B5EF4-FFF2-40B4-BE49-F238E27FC236}">
                <a16:creationId xmlns:a16="http://schemas.microsoft.com/office/drawing/2014/main" id="{7E74D470-1F56-7564-3BE0-71350DCA2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" y="1"/>
            <a:ext cx="7526137" cy="6896745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5FB60A0-8CFB-3D0C-0529-2EF419D2F0A6}"/>
              </a:ext>
            </a:extLst>
          </p:cNvPr>
          <p:cNvSpPr/>
          <p:nvPr/>
        </p:nvSpPr>
        <p:spPr>
          <a:xfrm>
            <a:off x="4604758" y="-20512"/>
            <a:ext cx="5853146" cy="687425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4F108C-0B40-64EC-47B9-DAC5324F1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3339" y="1966616"/>
            <a:ext cx="3899680" cy="931268"/>
          </a:xfrm>
        </p:spPr>
        <p:txBody>
          <a:bodyPr>
            <a:normAutofit/>
          </a:bodyPr>
          <a:lstStyle/>
          <a:p>
            <a:pPr algn="ctr"/>
            <a:r>
              <a:rPr lang="en-IN" sz="4000" b="1"/>
              <a:t>Dataset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9CB35F-EE2D-95D5-1995-50346C0521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1610" y="3183285"/>
            <a:ext cx="4599285" cy="23446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92500"/>
          </a:bodyPr>
          <a:lstStyle/>
          <a:p>
            <a:pPr lvl="0" defTabSz="914400">
              <a:lnSpc>
                <a:spcPct val="150000"/>
              </a:lnSpc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ASL gesture dataset.</a:t>
            </a:r>
            <a:endParaRPr lang="en-US" sz="18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1800">
                <a:latin typeface="Arial"/>
                <a:cs typeface="Arial"/>
              </a:rPr>
              <a:t>Open-source 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repositories </a:t>
            </a:r>
            <a:endParaRPr lang="en-US" sz="180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1800">
                <a:latin typeface="Arial"/>
                <a:cs typeface="Arial"/>
              </a:rPr>
              <a:t>Custom 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recordings.(per gesture 2400 </a:t>
            </a:r>
            <a:r>
              <a:rPr kumimoji="0" lang="en-US" sz="1800" b="0" i="0" u="none" strike="noStrike" cap="none" normalizeH="0" baseline="0" err="1">
                <a:ln>
                  <a:noFill/>
                </a:ln>
                <a:effectLst/>
                <a:latin typeface="Arial"/>
                <a:cs typeface="Arial"/>
              </a:rPr>
              <a:t>img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)</a:t>
            </a:r>
            <a:endParaRPr lang="en-US" sz="180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1800">
                <a:latin typeface="Arial"/>
                <a:cs typeface="Arial"/>
              </a:rPr>
              <a:t>LSA64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2000">
              <a:latin typeface="Arial"/>
              <a:cs typeface="Arial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95A542-C43B-0902-9B8E-AA9C7AE0BE25}"/>
              </a:ext>
            </a:extLst>
          </p:cNvPr>
          <p:cNvCxnSpPr/>
          <p:nvPr/>
        </p:nvCxnSpPr>
        <p:spPr>
          <a:xfrm>
            <a:off x="7278147" y="2820175"/>
            <a:ext cx="3283735" cy="836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Picture 4" descr="A green and white logo&#10;&#10;AI-generated content may be incorrect.">
            <a:extLst>
              <a:ext uri="{FF2B5EF4-FFF2-40B4-BE49-F238E27FC236}">
                <a16:creationId xmlns:a16="http://schemas.microsoft.com/office/drawing/2014/main" id="{3B939BBD-DF46-D4DE-C360-D1F79FE316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6" r="3596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7BFC9F-0725-0952-AB5D-2D394ED6FEAE}"/>
              </a:ext>
            </a:extLst>
          </p:cNvPr>
          <p:cNvSpPr txBox="1"/>
          <p:nvPr/>
        </p:nvSpPr>
        <p:spPr>
          <a:xfrm>
            <a:off x="619959" y="6454871"/>
            <a:ext cx="2188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3312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278A-6EEC-0FA4-6861-84562FB3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120" y="2894740"/>
            <a:ext cx="4603376" cy="2909296"/>
          </a:xfrm>
        </p:spPr>
        <p:txBody>
          <a:bodyPr anchor="t">
            <a:normAutofit/>
          </a:bodyPr>
          <a:lstStyle/>
          <a:p>
            <a:r>
              <a:rPr lang="en-IN" sz="4000" b="1"/>
              <a:t>Data Preparation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0CD8E7C-C23B-A3B9-B18A-838AED877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414B3-82BB-3474-C984-C989DCD13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0308" y="1589237"/>
            <a:ext cx="5257800" cy="5064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>
                <a:ea typeface="Calibri"/>
                <a:cs typeface="Calibri"/>
              </a:rPr>
              <a:t>Data Collection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IN" sz="2000">
                <a:ea typeface="Calibri"/>
                <a:cs typeface="Calibri"/>
              </a:rPr>
              <a:t>Preprocessing</a:t>
            </a:r>
          </a:p>
          <a:p>
            <a:pPr>
              <a:lnSpc>
                <a:spcPct val="150000"/>
              </a:lnSpc>
            </a:pPr>
            <a:r>
              <a:rPr lang="en-IN" sz="2000">
                <a:ea typeface="Calibri"/>
                <a:cs typeface="Calibri"/>
              </a:rPr>
              <a:t>Augmentation</a:t>
            </a:r>
          </a:p>
          <a:p>
            <a:pPr>
              <a:lnSpc>
                <a:spcPct val="150000"/>
              </a:lnSpc>
            </a:pPr>
            <a:r>
              <a:rPr lang="en-IN" sz="2000">
                <a:ea typeface="Calibri"/>
                <a:cs typeface="Calibri"/>
              </a:rPr>
              <a:t>Splitting</a:t>
            </a:r>
          </a:p>
          <a:p>
            <a:pPr>
              <a:lnSpc>
                <a:spcPct val="150000"/>
              </a:lnSpc>
            </a:pPr>
            <a:r>
              <a:rPr lang="en-IN" sz="2000">
                <a:ea typeface="Calibri"/>
                <a:cs typeface="Calibri"/>
              </a:rPr>
              <a:t>Feature Extraction</a:t>
            </a:r>
          </a:p>
          <a:p>
            <a:pPr>
              <a:lnSpc>
                <a:spcPct val="150000"/>
              </a:lnSpc>
            </a:pPr>
            <a:endParaRPr lang="en-IN" sz="2000">
              <a:ea typeface="Calibri"/>
              <a:cs typeface="Calibri"/>
            </a:endParaRPr>
          </a:p>
        </p:txBody>
      </p:sp>
      <p:pic>
        <p:nvPicPr>
          <p:cNvPr id="5" name="Picture 4" descr="A green and white logo&#10;&#10;AI-generated content may be incorrect.">
            <a:extLst>
              <a:ext uri="{FF2B5EF4-FFF2-40B4-BE49-F238E27FC236}">
                <a16:creationId xmlns:a16="http://schemas.microsoft.com/office/drawing/2014/main" id="{FDC37466-5F99-9276-E793-7C2F8EE81D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6" r="3596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18083B-8F98-87B7-8DC2-C6B00BCBCD31}"/>
              </a:ext>
            </a:extLst>
          </p:cNvPr>
          <p:cNvSpPr txBox="1"/>
          <p:nvPr/>
        </p:nvSpPr>
        <p:spPr>
          <a:xfrm>
            <a:off x="619959" y="6454871"/>
            <a:ext cx="2188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4824907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E8982-15B4-08BC-0249-E964D6A82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7624" y="2780277"/>
            <a:ext cx="6085668" cy="1286818"/>
          </a:xfrm>
        </p:spPr>
        <p:txBody>
          <a:bodyPr/>
          <a:lstStyle/>
          <a:p>
            <a:r>
              <a:rPr lang="en-IN">
                <a:solidFill>
                  <a:srgbClr val="000000"/>
                </a:solidFill>
              </a:rPr>
              <a:t>Technologies and tools</a:t>
            </a:r>
            <a:endParaRPr lang="en-US"/>
          </a:p>
          <a:p>
            <a:endParaRPr lang="en-IN"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8F41D-7DA0-C322-7721-5A42F775DF5A}"/>
              </a:ext>
            </a:extLst>
          </p:cNvPr>
          <p:cNvSpPr txBox="1"/>
          <p:nvPr/>
        </p:nvSpPr>
        <p:spPr>
          <a:xfrm>
            <a:off x="1857213" y="1999282"/>
            <a:ext cx="3763505" cy="23529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latin typeface="Montserrat"/>
                <a:ea typeface="Calibri"/>
                <a:cs typeface="Calibri"/>
              </a:rPr>
              <a:t>Python 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latin typeface="Montserrat"/>
                <a:ea typeface="Calibri"/>
                <a:cs typeface="Calibri"/>
              </a:rPr>
              <a:t>TensorFlow/Keras 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latin typeface="Montserrat"/>
                <a:ea typeface="Calibri"/>
                <a:cs typeface="Calibri"/>
              </a:rPr>
              <a:t>OpenCV 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latin typeface="Montserrat"/>
                <a:ea typeface="Calibri"/>
                <a:cs typeface="Calibri"/>
              </a:rPr>
              <a:t>SQLite 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latin typeface="Montserrat"/>
                <a:ea typeface="Calibri"/>
                <a:cs typeface="Calibri"/>
              </a:rPr>
              <a:t>pyttsx3</a:t>
            </a:r>
          </a:p>
        </p:txBody>
      </p:sp>
      <p:pic>
        <p:nvPicPr>
          <p:cNvPr id="5" name="Picture 4" descr="A logo with green text&#10;&#10;AI-generated content may be incorrect.">
            <a:extLst>
              <a:ext uri="{FF2B5EF4-FFF2-40B4-BE49-F238E27FC236}">
                <a16:creationId xmlns:a16="http://schemas.microsoft.com/office/drawing/2014/main" id="{5DC93827-9E46-E34D-3D91-DC513829DE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62" t="27027" r="73034" b="29730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A2D274-774A-0AA5-AAF9-737ADFEBB19F}"/>
              </a:ext>
            </a:extLst>
          </p:cNvPr>
          <p:cNvSpPr txBox="1"/>
          <p:nvPr/>
        </p:nvSpPr>
        <p:spPr>
          <a:xfrm>
            <a:off x="619959" y="6454871"/>
            <a:ext cx="2188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7715352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867CA76-E2D3-528B-0977-E608ED1EDEC8}"/>
              </a:ext>
            </a:extLst>
          </p:cNvPr>
          <p:cNvCxnSpPr/>
          <p:nvPr/>
        </p:nvCxnSpPr>
        <p:spPr>
          <a:xfrm flipH="1">
            <a:off x="3243896" y="2116127"/>
            <a:ext cx="6339" cy="4738854"/>
          </a:xfrm>
          <a:prstGeom prst="straightConnector1">
            <a:avLst/>
          </a:prstGeom>
          <a:ln>
            <a:solidFill>
              <a:srgbClr val="BA98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151266B-BCE3-2300-CDD7-BCF34EB18671}"/>
              </a:ext>
            </a:extLst>
          </p:cNvPr>
          <p:cNvGrpSpPr/>
          <p:nvPr/>
        </p:nvGrpSpPr>
        <p:grpSpPr>
          <a:xfrm>
            <a:off x="3081697" y="2549719"/>
            <a:ext cx="5097476" cy="882904"/>
            <a:chOff x="3081697" y="2549719"/>
            <a:chExt cx="5097476" cy="882904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18F15CF5-E0D7-C684-2599-FEE6DA701372}"/>
                </a:ext>
              </a:extLst>
            </p:cNvPr>
            <p:cNvSpPr/>
            <p:nvPr/>
          </p:nvSpPr>
          <p:spPr>
            <a:xfrm>
              <a:off x="3081697" y="2549719"/>
              <a:ext cx="346449" cy="376972"/>
            </a:xfrm>
            <a:prstGeom prst="flowChartConnector">
              <a:avLst/>
            </a:prstGeom>
            <a:solidFill>
              <a:srgbClr val="BA98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CF831F8-1285-5AC3-0F75-39BD9CDC5867}"/>
                </a:ext>
              </a:extLst>
            </p:cNvPr>
            <p:cNvSpPr txBox="1"/>
            <p:nvPr/>
          </p:nvSpPr>
          <p:spPr>
            <a:xfrm>
              <a:off x="3523459" y="2567008"/>
              <a:ext cx="3945859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b="1">
                  <a:solidFill>
                    <a:srgbClr val="313131"/>
                  </a:solidFill>
                  <a:latin typeface="Montserrat"/>
                </a:rPr>
                <a:t>Setting Up Hand Histogram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17DB15-06DD-1380-C983-0FDF20269679}"/>
                </a:ext>
              </a:extLst>
            </p:cNvPr>
            <p:cNvSpPr txBox="1"/>
            <p:nvPr/>
          </p:nvSpPr>
          <p:spPr>
            <a:xfrm>
              <a:off x="3537555" y="2878625"/>
              <a:ext cx="4641618" cy="5539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solidFill>
                    <a:srgbClr val="313131"/>
                  </a:solidFill>
                  <a:latin typeface="Montserrat"/>
                </a:rPr>
                <a:t>Captures the skin tone histogram to segment hand gestures from the background</a:t>
              </a:r>
              <a:r>
                <a:rPr lang="en-US" sz="1600">
                  <a:solidFill>
                    <a:srgbClr val="313131"/>
                  </a:solidFill>
                  <a:latin typeface="Montserrat"/>
                </a:rPr>
                <a:t>.</a:t>
              </a:r>
              <a:endParaRPr lang="en-US" sz="160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BF86F54-E9C2-F858-C190-E0BB9AECC570}"/>
              </a:ext>
            </a:extLst>
          </p:cNvPr>
          <p:cNvGrpSpPr/>
          <p:nvPr/>
        </p:nvGrpSpPr>
        <p:grpSpPr>
          <a:xfrm>
            <a:off x="-320040" y="4541398"/>
            <a:ext cx="3748186" cy="1356208"/>
            <a:chOff x="-320040" y="4541398"/>
            <a:chExt cx="3748186" cy="1356208"/>
          </a:xfrm>
        </p:grpSpPr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B8F93B8A-7572-980D-25A6-D9FD8DE6A44F}"/>
                </a:ext>
              </a:extLst>
            </p:cNvPr>
            <p:cNvSpPr/>
            <p:nvPr/>
          </p:nvSpPr>
          <p:spPr>
            <a:xfrm>
              <a:off x="3081697" y="4563260"/>
              <a:ext cx="346449" cy="376972"/>
            </a:xfrm>
            <a:prstGeom prst="flowChartConnector">
              <a:avLst/>
            </a:prstGeom>
            <a:solidFill>
              <a:srgbClr val="BA98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B9CB640-BE52-4127-E382-64DF76306C92}"/>
                </a:ext>
              </a:extLst>
            </p:cNvPr>
            <p:cNvSpPr txBox="1"/>
            <p:nvPr/>
          </p:nvSpPr>
          <p:spPr>
            <a:xfrm>
              <a:off x="-320040" y="4541398"/>
              <a:ext cx="3312609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en-US" sz="1600" b="1">
                  <a:solidFill>
                    <a:srgbClr val="313131"/>
                  </a:solidFill>
                  <a:latin typeface="Montserrat"/>
                </a:rPr>
                <a:t>Creating and labeling Gestures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72C3DE-099F-E53E-EFF8-D2A4C7093789}"/>
                </a:ext>
              </a:extLst>
            </p:cNvPr>
            <p:cNvSpPr txBox="1"/>
            <p:nvPr/>
          </p:nvSpPr>
          <p:spPr>
            <a:xfrm>
              <a:off x="67917" y="5158942"/>
              <a:ext cx="2918314" cy="73866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n-US" sz="1400">
                  <a:solidFill>
                    <a:srgbClr val="313131"/>
                  </a:solidFill>
                  <a:latin typeface="Montserrat"/>
                </a:rPr>
                <a:t>Captures images of different hand signs and stores them in directory after labeling.</a:t>
              </a:r>
              <a:endParaRPr lang="en-US" sz="140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DEA79BE-FC27-1B97-9B55-0EFF78D93F5A}"/>
              </a:ext>
            </a:extLst>
          </p:cNvPr>
          <p:cNvSpPr txBox="1"/>
          <p:nvPr/>
        </p:nvSpPr>
        <p:spPr>
          <a:xfrm>
            <a:off x="-20842" y="721356"/>
            <a:ext cx="48724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>
                <a:latin typeface="Montserrat"/>
                <a:ea typeface="Calibri"/>
                <a:cs typeface="Calibri"/>
              </a:rPr>
              <a:t>Implementation</a:t>
            </a:r>
            <a:endParaRPr lang="en-US" sz="3600">
              <a:latin typeface="Montserrat"/>
            </a:endParaRPr>
          </a:p>
        </p:txBody>
      </p:sp>
      <p:pic>
        <p:nvPicPr>
          <p:cNvPr id="11" name="Picture 10" descr="A logo with green text&#10;&#10;AI-generated content may be incorrect.">
            <a:extLst>
              <a:ext uri="{FF2B5EF4-FFF2-40B4-BE49-F238E27FC236}">
                <a16:creationId xmlns:a16="http://schemas.microsoft.com/office/drawing/2014/main" id="{BCA08EE7-E47A-F070-6FD5-CD2DA97178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62" t="27027" r="73034" b="29730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475A1D-0CD3-3EFE-F187-13636A99033B}"/>
              </a:ext>
            </a:extLst>
          </p:cNvPr>
          <p:cNvSpPr txBox="1"/>
          <p:nvPr/>
        </p:nvSpPr>
        <p:spPr>
          <a:xfrm>
            <a:off x="632874" y="6454871"/>
            <a:ext cx="47711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3DA6B2-67E1-315C-91E7-28A8E3F08743}"/>
              </a:ext>
            </a:extLst>
          </p:cNvPr>
          <p:cNvCxnSpPr/>
          <p:nvPr/>
        </p:nvCxnSpPr>
        <p:spPr>
          <a:xfrm flipH="1">
            <a:off x="8439912" y="0"/>
            <a:ext cx="45133" cy="6865079"/>
          </a:xfrm>
          <a:prstGeom prst="straightConnector1">
            <a:avLst/>
          </a:prstGeom>
          <a:ln>
            <a:solidFill>
              <a:srgbClr val="BA98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DFFA885-7FA7-EC82-5600-EAA7851DD63A}"/>
              </a:ext>
            </a:extLst>
          </p:cNvPr>
          <p:cNvGrpSpPr/>
          <p:nvPr/>
        </p:nvGrpSpPr>
        <p:grpSpPr>
          <a:xfrm>
            <a:off x="4221458" y="347027"/>
            <a:ext cx="4848636" cy="811623"/>
            <a:chOff x="4206308" y="667108"/>
            <a:chExt cx="4848636" cy="811623"/>
          </a:xfrm>
        </p:grpSpPr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45135B53-E1BF-6751-3C90-02158C22F778}"/>
                </a:ext>
              </a:extLst>
            </p:cNvPr>
            <p:cNvSpPr/>
            <p:nvPr/>
          </p:nvSpPr>
          <p:spPr>
            <a:xfrm>
              <a:off x="8334678" y="667108"/>
              <a:ext cx="361873" cy="376972"/>
            </a:xfrm>
            <a:prstGeom prst="flowChartConnector">
              <a:avLst/>
            </a:prstGeom>
            <a:solidFill>
              <a:srgbClr val="BA98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F7DB311-EBF7-C986-5343-A112B75160D5}"/>
                </a:ext>
              </a:extLst>
            </p:cNvPr>
            <p:cNvSpPr txBox="1"/>
            <p:nvPr/>
          </p:nvSpPr>
          <p:spPr>
            <a:xfrm>
              <a:off x="5496389" y="676064"/>
              <a:ext cx="3558555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b="1">
                  <a:solidFill>
                    <a:srgbClr val="313131"/>
                  </a:solidFill>
                  <a:latin typeface="Montserrat"/>
                </a:rPr>
                <a:t>Data Augmentation</a:t>
              </a:r>
              <a:endParaRPr lang="en-US" sz="1600" b="1">
                <a:latin typeface="Montserrat"/>
              </a:endParaRPr>
            </a:p>
            <a:p>
              <a:endParaRPr lang="en-US" sz="2000" b="1">
                <a:solidFill>
                  <a:srgbClr val="313131"/>
                </a:solidFill>
                <a:latin typeface="Montserra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4D44AA1-F57A-61A1-495B-527AB2FF6113}"/>
                </a:ext>
              </a:extLst>
            </p:cNvPr>
            <p:cNvSpPr txBox="1"/>
            <p:nvPr/>
          </p:nvSpPr>
          <p:spPr>
            <a:xfrm>
              <a:off x="4206308" y="955511"/>
              <a:ext cx="4200430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en-US" sz="1400">
                  <a:solidFill>
                    <a:srgbClr val="313131"/>
                  </a:solidFill>
                  <a:latin typeface="Montserrat"/>
                </a:rPr>
                <a:t>Enhances dataset by flipping images horizontally</a:t>
              </a:r>
              <a:endParaRPr lang="en-US" sz="140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FD7317-E1DD-8F3D-9720-DD528A49E6C8}"/>
              </a:ext>
            </a:extLst>
          </p:cNvPr>
          <p:cNvGrpSpPr/>
          <p:nvPr/>
        </p:nvGrpSpPr>
        <p:grpSpPr>
          <a:xfrm>
            <a:off x="8281541" y="1786519"/>
            <a:ext cx="3960436" cy="1282223"/>
            <a:chOff x="8281541" y="1786519"/>
            <a:chExt cx="3960436" cy="1282223"/>
          </a:xfrm>
        </p:grpSpPr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84133F3D-6D34-BFBA-EF41-4A5F330DB3A8}"/>
                </a:ext>
              </a:extLst>
            </p:cNvPr>
            <p:cNvSpPr/>
            <p:nvPr/>
          </p:nvSpPr>
          <p:spPr>
            <a:xfrm>
              <a:off x="8281541" y="1848074"/>
              <a:ext cx="361873" cy="376972"/>
            </a:xfrm>
            <a:prstGeom prst="flowChartConnector">
              <a:avLst/>
            </a:prstGeom>
            <a:solidFill>
              <a:srgbClr val="BA98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02E3FA-B369-7CCE-56A9-E61334D2FE02}"/>
                </a:ext>
              </a:extLst>
            </p:cNvPr>
            <p:cNvSpPr txBox="1"/>
            <p:nvPr/>
          </p:nvSpPr>
          <p:spPr>
            <a:xfrm>
              <a:off x="8696552" y="1786519"/>
              <a:ext cx="2993705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b="1">
                  <a:latin typeface="Montserrat"/>
                </a:rPr>
                <a:t>Preprocessing and dataset preparation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813807-3FBF-FDC8-8E90-90F0A43E1024}"/>
                </a:ext>
              </a:extLst>
            </p:cNvPr>
            <p:cNvSpPr txBox="1"/>
            <p:nvPr/>
          </p:nvSpPr>
          <p:spPr>
            <a:xfrm>
              <a:off x="8745784" y="2330078"/>
              <a:ext cx="3496193" cy="73866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Montserrat"/>
                </a:rPr>
                <a:t>Reads images, converts them to grayscale, and normalizes pixel values. Finally, splits the dataset.</a:t>
              </a:r>
              <a:endParaRPr lang="en-US" sz="140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02736A-C34E-1313-A993-F34201D5E673}"/>
              </a:ext>
            </a:extLst>
          </p:cNvPr>
          <p:cNvGrpSpPr/>
          <p:nvPr/>
        </p:nvGrpSpPr>
        <p:grpSpPr>
          <a:xfrm>
            <a:off x="5419349" y="3770790"/>
            <a:ext cx="4052028" cy="1048918"/>
            <a:chOff x="5419349" y="3770790"/>
            <a:chExt cx="4052028" cy="104891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9D81DAC-B9BB-8A37-0ED0-7918148AF2C9}"/>
                </a:ext>
              </a:extLst>
            </p:cNvPr>
            <p:cNvSpPr txBox="1"/>
            <p:nvPr/>
          </p:nvSpPr>
          <p:spPr>
            <a:xfrm>
              <a:off x="6013132" y="3808386"/>
              <a:ext cx="3458245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Montserrat"/>
                </a:rPr>
                <a:t>Training CNN model</a:t>
              </a:r>
              <a:endParaRPr lang="en-US" sz="1600" b="1"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  <a:p>
              <a:endParaRPr lang="en-US" sz="1600" b="1">
                <a:solidFill>
                  <a:srgbClr val="313131"/>
                </a:solidFill>
                <a:latin typeface="Montserrat"/>
              </a:endParaRPr>
            </a:p>
            <a:p>
              <a:endParaRPr lang="en-US" sz="1600" b="1">
                <a:solidFill>
                  <a:srgbClr val="313131"/>
                </a:solidFill>
                <a:latin typeface="Montserrat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AE3C310-6881-3C6D-1E1A-6E78C77E94AE}"/>
                </a:ext>
              </a:extLst>
            </p:cNvPr>
            <p:cNvGrpSpPr/>
            <p:nvPr/>
          </p:nvGrpSpPr>
          <p:grpSpPr>
            <a:xfrm>
              <a:off x="5419349" y="3770790"/>
              <a:ext cx="3217995" cy="1048918"/>
              <a:chOff x="5419349" y="3770790"/>
              <a:chExt cx="3217995" cy="1048918"/>
            </a:xfrm>
          </p:grpSpPr>
          <p:sp>
            <p:nvSpPr>
              <p:cNvPr id="20" name="Flowchart: Connector 19">
                <a:extLst>
                  <a:ext uri="{FF2B5EF4-FFF2-40B4-BE49-F238E27FC236}">
                    <a16:creationId xmlns:a16="http://schemas.microsoft.com/office/drawing/2014/main" id="{0F79EC28-5B6D-770B-5943-49C293517E14}"/>
                  </a:ext>
                </a:extLst>
              </p:cNvPr>
              <p:cNvSpPr/>
              <p:nvPr/>
            </p:nvSpPr>
            <p:spPr>
              <a:xfrm>
                <a:off x="8275471" y="3770790"/>
                <a:ext cx="361873" cy="376972"/>
              </a:xfrm>
              <a:prstGeom prst="flowChartConnector">
                <a:avLst/>
              </a:prstGeom>
              <a:solidFill>
                <a:srgbClr val="BA987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0657FB-795E-95EE-3A6F-E17AC9128ED8}"/>
                  </a:ext>
                </a:extLst>
              </p:cNvPr>
              <p:cNvSpPr txBox="1"/>
              <p:nvPr/>
            </p:nvSpPr>
            <p:spPr>
              <a:xfrm>
                <a:off x="5419349" y="4081044"/>
                <a:ext cx="2967946" cy="73866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r"/>
                <a:r>
                  <a:rPr lang="en-US" sz="1400">
                    <a:solidFill>
                      <a:srgbClr val="000000"/>
                    </a:solidFill>
                    <a:latin typeface="Montserrat"/>
                  </a:rPr>
                  <a:t>Trains a CNN for sign language recognition and saves the best model in .h5 file.</a:t>
                </a:r>
                <a:endParaRPr lang="en-US" sz="140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2A2387E-3D43-3394-DC3C-7B59B00A1A68}"/>
              </a:ext>
            </a:extLst>
          </p:cNvPr>
          <p:cNvGrpSpPr/>
          <p:nvPr/>
        </p:nvGrpSpPr>
        <p:grpSpPr>
          <a:xfrm>
            <a:off x="8275471" y="5172564"/>
            <a:ext cx="3756074" cy="1070058"/>
            <a:chOff x="8275471" y="5172564"/>
            <a:chExt cx="3756074" cy="1070058"/>
          </a:xfrm>
        </p:grpSpPr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43035D51-FD91-DC54-62AA-40A51BC75B4C}"/>
                </a:ext>
              </a:extLst>
            </p:cNvPr>
            <p:cNvSpPr/>
            <p:nvPr/>
          </p:nvSpPr>
          <p:spPr>
            <a:xfrm>
              <a:off x="8275471" y="5263824"/>
              <a:ext cx="361873" cy="376972"/>
            </a:xfrm>
            <a:prstGeom prst="flowChartConnector">
              <a:avLst/>
            </a:prstGeom>
            <a:solidFill>
              <a:srgbClr val="BA98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3CD1358-AC1E-9479-E355-8E2DD1E3061B}"/>
                </a:ext>
              </a:extLst>
            </p:cNvPr>
            <p:cNvSpPr txBox="1"/>
            <p:nvPr/>
          </p:nvSpPr>
          <p:spPr>
            <a:xfrm>
              <a:off x="8742578" y="5172564"/>
              <a:ext cx="2993705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b="1">
                  <a:latin typeface="Montserrat"/>
                </a:rPr>
                <a:t>Real-Time Gesture Recognition</a:t>
              </a:r>
              <a:endParaRPr lang="en-US" sz="1600"/>
            </a:p>
            <a:p>
              <a:endParaRPr lang="en-US" sz="1600" b="1">
                <a:latin typeface="Montserrat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383041-7CCC-3965-C594-7B529F686F33}"/>
                </a:ext>
              </a:extLst>
            </p:cNvPr>
            <p:cNvSpPr txBox="1"/>
            <p:nvPr/>
          </p:nvSpPr>
          <p:spPr>
            <a:xfrm>
              <a:off x="8742577" y="5719402"/>
              <a:ext cx="3288968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Montserrat"/>
                </a:rPr>
                <a:t>Converts recognized gestures into text and speech output</a:t>
              </a:r>
              <a:endParaRPr 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3268819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790720-35DC-2F88-0A3B-FE405C5897BF}"/>
              </a:ext>
            </a:extLst>
          </p:cNvPr>
          <p:cNvSpPr/>
          <p:nvPr/>
        </p:nvSpPr>
        <p:spPr>
          <a:xfrm>
            <a:off x="0" y="968230"/>
            <a:ext cx="12174605" cy="464392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13B9F-D20D-E430-A48F-EC9CB3BC39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82272" y="1296988"/>
            <a:ext cx="3443287" cy="815975"/>
          </a:xfrm>
        </p:spPr>
        <p:txBody>
          <a:bodyPr anchor="b">
            <a:normAutofit/>
          </a:bodyPr>
          <a:lstStyle/>
          <a:p>
            <a:r>
              <a:rPr lang="en-IN" sz="4000" b="1">
                <a:latin typeface="Montserrat"/>
              </a:rPr>
              <a:t>Challenges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A4ED9-7992-F202-283F-E975D007880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31018" y="2456158"/>
            <a:ext cx="4346575" cy="19367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Font typeface="Courier New"/>
              <a:buChar char="o"/>
            </a:pPr>
            <a:r>
              <a:rPr lang="en-IN" sz="1600">
                <a:latin typeface="Montserrat"/>
              </a:rPr>
              <a:t>Low accuracy on complex gestures</a:t>
            </a:r>
            <a:endParaRPr lang="en-US" sz="1600">
              <a:latin typeface="Montserrat"/>
            </a:endParaRPr>
          </a:p>
          <a:p>
            <a:pPr>
              <a:lnSpc>
                <a:spcPct val="150000"/>
              </a:lnSpc>
              <a:buFont typeface="Courier New"/>
              <a:buChar char="o"/>
            </a:pPr>
            <a:r>
              <a:rPr lang="en-IN" sz="1600">
                <a:latin typeface="Montserrat"/>
              </a:rPr>
              <a:t>Background Noise in Camera Feed</a:t>
            </a:r>
          </a:p>
          <a:p>
            <a:pPr>
              <a:lnSpc>
                <a:spcPct val="150000"/>
              </a:lnSpc>
              <a:buFont typeface="Courier New"/>
              <a:buChar char="o"/>
            </a:pPr>
            <a:r>
              <a:rPr lang="en-IN" sz="1600">
                <a:latin typeface="Montserrat"/>
              </a:rPr>
              <a:t>Sign Variation Across Users</a:t>
            </a:r>
          </a:p>
          <a:p>
            <a:pPr marL="0" indent="0">
              <a:buNone/>
            </a:pPr>
            <a:endParaRPr lang="en-IN" sz="2000">
              <a:ea typeface="Calibri"/>
              <a:cs typeface="Calibri"/>
            </a:endParaRPr>
          </a:p>
          <a:p>
            <a:pPr>
              <a:buFont typeface="Courier New" panose="020B0604020202020204" pitchFamily="34" charset="0"/>
              <a:buChar char="o"/>
            </a:pPr>
            <a:endParaRPr lang="en-IN" sz="2000">
              <a:ea typeface="Calibri"/>
              <a:cs typeface="Calibri"/>
            </a:endParaRPr>
          </a:p>
        </p:txBody>
      </p:sp>
      <p:pic>
        <p:nvPicPr>
          <p:cNvPr id="9" name="Picture 8" descr="A person pushing a rock&#10;&#10;AI-generated content may be incorrect.">
            <a:extLst>
              <a:ext uri="{FF2B5EF4-FFF2-40B4-BE49-F238E27FC236}">
                <a16:creationId xmlns:a16="http://schemas.microsoft.com/office/drawing/2014/main" id="{88AA8F0B-1D05-34F4-892F-419B50AB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73" t="10247" r="16761" b="9753"/>
          <a:stretch/>
        </p:blipFill>
        <p:spPr>
          <a:xfrm>
            <a:off x="-6307" y="1283520"/>
            <a:ext cx="5052967" cy="4013673"/>
          </a:xfrm>
          <a:prstGeom prst="rect">
            <a:avLst/>
          </a:prstGeom>
        </p:spPr>
      </p:pic>
      <p:pic>
        <p:nvPicPr>
          <p:cNvPr id="6" name="Picture 5" descr="A logo with green text&#10;&#10;AI-generated content may be incorrect.">
            <a:extLst>
              <a:ext uri="{FF2B5EF4-FFF2-40B4-BE49-F238E27FC236}">
                <a16:creationId xmlns:a16="http://schemas.microsoft.com/office/drawing/2014/main" id="{CC35AA53-897D-8A60-625E-FF946C7F4B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62" t="27027" r="73034" b="29730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198AAD-3512-1B15-C90A-F942F3671398}"/>
              </a:ext>
            </a:extLst>
          </p:cNvPr>
          <p:cNvSpPr txBox="1"/>
          <p:nvPr/>
        </p:nvSpPr>
        <p:spPr>
          <a:xfrm>
            <a:off x="632874" y="6454871"/>
            <a:ext cx="6191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9716874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CF52D4-7B5A-593B-76C3-1C9ED8C3AF0C}"/>
              </a:ext>
            </a:extLst>
          </p:cNvPr>
          <p:cNvSpPr/>
          <p:nvPr/>
        </p:nvSpPr>
        <p:spPr>
          <a:xfrm>
            <a:off x="0" y="896983"/>
            <a:ext cx="12198175" cy="47245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EAF59C-C9A6-9A21-79A4-F744357EDE37}"/>
              </a:ext>
            </a:extLst>
          </p:cNvPr>
          <p:cNvSpPr txBox="1">
            <a:spLocks/>
          </p:cNvSpPr>
          <p:nvPr/>
        </p:nvSpPr>
        <p:spPr>
          <a:xfrm>
            <a:off x="151565" y="1454229"/>
            <a:ext cx="3549649" cy="903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4000"/>
              <a:t>Solutions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48D42-4B0F-A938-6D65-3959C0F8BFA7}"/>
              </a:ext>
            </a:extLst>
          </p:cNvPr>
          <p:cNvSpPr txBox="1"/>
          <p:nvPr/>
        </p:nvSpPr>
        <p:spPr>
          <a:xfrm>
            <a:off x="876693" y="2644088"/>
            <a:ext cx="4920124" cy="197299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57150" indent="-285750">
              <a:lnSpc>
                <a:spcPct val="150000"/>
              </a:lnSpc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/>
              <a:t>Increased dataset size &amp; used data augmentation.</a:t>
            </a:r>
            <a:endParaRPr lang="en-US" sz="1600">
              <a:ea typeface="Calibri"/>
              <a:cs typeface="Calibri"/>
            </a:endParaRPr>
          </a:p>
          <a:p>
            <a:pPr marL="57150" indent="-285750">
              <a:lnSpc>
                <a:spcPct val="150000"/>
              </a:lnSpc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/>
              <a:t>Applied image thresholding &amp; hand segmentation.</a:t>
            </a:r>
            <a:endParaRPr lang="en-US" sz="1600">
              <a:ea typeface="Calibri"/>
              <a:cs typeface="Calibri"/>
            </a:endParaRPr>
          </a:p>
          <a:p>
            <a:pPr marL="57150" indent="-285750">
              <a:lnSpc>
                <a:spcPct val="150000"/>
              </a:lnSpc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/>
              <a:t>Added multiple variations for each gesture.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6" name="Picture 5" descr="A group of people building a light bulb&#10;&#10;AI-generated content may be incorrect.">
            <a:extLst>
              <a:ext uri="{FF2B5EF4-FFF2-40B4-BE49-F238E27FC236}">
                <a16:creationId xmlns:a16="http://schemas.microsoft.com/office/drawing/2014/main" id="{31EF715B-138A-47FA-7075-49D48E90B9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81" t="6004" r="125" b="5097"/>
          <a:stretch/>
        </p:blipFill>
        <p:spPr>
          <a:xfrm>
            <a:off x="6090383" y="1112113"/>
            <a:ext cx="6098878" cy="419794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89243" y="5858828"/>
            <a:ext cx="6226463" cy="123363"/>
            <a:chOff x="7015162" y="5858828"/>
            <a:chExt cx="4300544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logo with green text&#10;&#10;AI-generated content may be incorrect.">
            <a:extLst>
              <a:ext uri="{FF2B5EF4-FFF2-40B4-BE49-F238E27FC236}">
                <a16:creationId xmlns:a16="http://schemas.microsoft.com/office/drawing/2014/main" id="{706C8370-32BF-1A2D-CBCA-0108AE5767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62" t="27027" r="73034" b="29730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152CFF-D188-84BC-1EEA-8371C8381325}"/>
              </a:ext>
            </a:extLst>
          </p:cNvPr>
          <p:cNvSpPr txBox="1"/>
          <p:nvPr/>
        </p:nvSpPr>
        <p:spPr>
          <a:xfrm>
            <a:off x="632874" y="6454871"/>
            <a:ext cx="6191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10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401444933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72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White stairs with a blue arrow drawn in the middle pointing upwards">
            <a:extLst>
              <a:ext uri="{FF2B5EF4-FFF2-40B4-BE49-F238E27FC236}">
                <a16:creationId xmlns:a16="http://schemas.microsoft.com/office/drawing/2014/main" id="{FF4F6407-F242-8901-F539-EF5415C5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35" r="28883"/>
          <a:stretch/>
        </p:blipFill>
        <p:spPr>
          <a:xfrm>
            <a:off x="8181094" y="1065276"/>
            <a:ext cx="2826162" cy="4727448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9ED8127-005D-3C58-E925-DA4EE5E0776E}"/>
              </a:ext>
            </a:extLst>
          </p:cNvPr>
          <p:cNvSpPr txBox="1"/>
          <p:nvPr/>
        </p:nvSpPr>
        <p:spPr>
          <a:xfrm>
            <a:off x="240872" y="956249"/>
            <a:ext cx="7272448" cy="18669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TRUSTWORTHINESS ENHANCEMENT STRATEGIES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57899-D43C-03BD-DC83-61B7CB389662}"/>
              </a:ext>
            </a:extLst>
          </p:cNvPr>
          <p:cNvSpPr txBox="1"/>
          <p:nvPr/>
        </p:nvSpPr>
        <p:spPr>
          <a:xfrm>
            <a:off x="1184744" y="3766514"/>
            <a:ext cx="6280043" cy="26511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chemeClr val="tx2"/>
                </a:solidFill>
                <a:latin typeface="Montserrat" panose="00000500000000000000" pitchFamily="2" charset="0"/>
              </a:rPr>
              <a:t>Fairness: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chemeClr val="tx2"/>
                </a:solidFill>
                <a:latin typeface="Montserrat" panose="00000500000000000000" pitchFamily="2" charset="0"/>
              </a:rPr>
              <a:t>        </a:t>
            </a:r>
            <a:r>
              <a:rPr lang="en-US" sz="1400">
                <a:solidFill>
                  <a:schemeClr val="tx2"/>
                </a:solidFill>
                <a:latin typeface="Montserrat" panose="00000500000000000000" pitchFamily="2" charset="0"/>
              </a:rPr>
              <a:t>T</a:t>
            </a:r>
            <a:r>
              <a:rPr lang="en-US" sz="1400">
                <a:latin typeface="Montserrat" panose="00000500000000000000" pitchFamily="2" charset="0"/>
              </a:rPr>
              <a:t>raining data included different types of hand gestures from diverse users to help the model work well for everyone</a:t>
            </a:r>
            <a:r>
              <a:rPr lang="en-US" sz="1400"/>
              <a:t>.</a:t>
            </a:r>
            <a:endParaRPr lang="en-US" sz="140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chemeClr val="tx2"/>
                </a:solidFill>
                <a:latin typeface="Montserrat" panose="00000500000000000000" pitchFamily="2" charset="0"/>
              </a:rPr>
              <a:t>Robustness: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chemeClr val="tx2"/>
                </a:solidFill>
                <a:latin typeface="Montserrat" panose="00000500000000000000" pitchFamily="2" charset="0"/>
              </a:rPr>
              <a:t>        </a:t>
            </a:r>
            <a:r>
              <a:rPr lang="en-US" sz="1400">
                <a:solidFill>
                  <a:schemeClr val="tx2"/>
                </a:solidFill>
                <a:latin typeface="Montserrat" panose="00000500000000000000" pitchFamily="2" charset="0"/>
              </a:rPr>
              <a:t>Tested model with varied lighting, motion blur, and different backgrounds.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chemeClr val="tx2"/>
                </a:solidFill>
                <a:latin typeface="Montserrat" panose="00000500000000000000" pitchFamily="2" charset="0"/>
              </a:rPr>
              <a:t>Data Augmentation: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chemeClr val="tx2"/>
                </a:solidFill>
                <a:latin typeface="Montserrat" panose="00000500000000000000" pitchFamily="2" charset="0"/>
              </a:rPr>
              <a:t>        </a:t>
            </a:r>
            <a:r>
              <a:rPr lang="en-US" sz="1400">
                <a:solidFill>
                  <a:schemeClr val="tx2"/>
                </a:solidFill>
                <a:latin typeface="Montserrat" panose="00000500000000000000" pitchFamily="2" charset="0"/>
              </a:rPr>
              <a:t>Applied rotations, brightness adjustments, and flips to simulate real-world variability.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chemeClr val="tx2"/>
                </a:solidFill>
                <a:latin typeface="Montserrat" panose="00000500000000000000" pitchFamily="2" charset="0"/>
              </a:rPr>
              <a:t>Continuous Validation: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chemeClr val="tx2"/>
                </a:solidFill>
                <a:latin typeface="Montserrat" panose="00000500000000000000" pitchFamily="2" charset="0"/>
              </a:rPr>
              <a:t>        </a:t>
            </a:r>
            <a:r>
              <a:rPr lang="en-US" sz="1400">
                <a:solidFill>
                  <a:schemeClr val="tx2"/>
                </a:solidFill>
                <a:latin typeface="Montserrat" panose="00000500000000000000" pitchFamily="2" charset="0"/>
              </a:rPr>
              <a:t>Regular evaluation of misclassifications to retrain and improve the model.</a:t>
            </a:r>
          </a:p>
        </p:txBody>
      </p:sp>
      <p:pic>
        <p:nvPicPr>
          <p:cNvPr id="4" name="Picture 3" descr="A green and white logo&#10;&#10;AI-generated content may be incorrect.">
            <a:extLst>
              <a:ext uri="{FF2B5EF4-FFF2-40B4-BE49-F238E27FC236}">
                <a16:creationId xmlns:a16="http://schemas.microsoft.com/office/drawing/2014/main" id="{FFC9A185-0500-3984-E22B-F15361F4F0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96" r="3596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828973-50C4-B661-EE68-2C3B9BBB8A21}"/>
              </a:ext>
            </a:extLst>
          </p:cNvPr>
          <p:cNvSpPr txBox="1"/>
          <p:nvPr/>
        </p:nvSpPr>
        <p:spPr>
          <a:xfrm>
            <a:off x="642045" y="6443828"/>
            <a:ext cx="5280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00930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op view of a circular staircase">
            <a:extLst>
              <a:ext uri="{FF2B5EF4-FFF2-40B4-BE49-F238E27FC236}">
                <a16:creationId xmlns:a16="http://schemas.microsoft.com/office/drawing/2014/main" id="{D2C69D64-3738-13BD-39FA-9938D8A2BC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7375" y="1885950"/>
            <a:ext cx="8505825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126D07-DCA9-1DF0-05F7-0E74FE6FAC0E}"/>
              </a:ext>
            </a:extLst>
          </p:cNvPr>
          <p:cNvSpPr txBox="1"/>
          <p:nvPr/>
        </p:nvSpPr>
        <p:spPr>
          <a:xfrm>
            <a:off x="2276475" y="2247900"/>
            <a:ext cx="7581900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Trustworthy Aspects</a:t>
            </a:r>
          </a:p>
        </p:txBody>
      </p:sp>
    </p:spTree>
    <p:extLst>
      <p:ext uri="{BB962C8B-B14F-4D97-AF65-F5344CB8AC3E}">
        <p14:creationId xmlns:p14="http://schemas.microsoft.com/office/powerpoint/2010/main" val="2010804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DB48B-BB73-CC14-6AB6-2E57FCC65F18}"/>
              </a:ext>
            </a:extLst>
          </p:cNvPr>
          <p:cNvSpPr txBox="1"/>
          <p:nvPr/>
        </p:nvSpPr>
        <p:spPr>
          <a:xfrm>
            <a:off x="612648" y="1078992"/>
            <a:ext cx="6272784" cy="15453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Fairness and Bias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209C0C-740C-8857-00E0-CD9E1B4E2691}"/>
              </a:ext>
            </a:extLst>
          </p:cNvPr>
          <p:cNvSpPr txBox="1"/>
          <p:nvPr/>
        </p:nvSpPr>
        <p:spPr>
          <a:xfrm>
            <a:off x="886968" y="2953829"/>
            <a:ext cx="6272784" cy="282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Dataset Diversity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Demographic Testing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Fairness Metrics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Results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FE8720-B72D-2DD0-20B0-2819C17092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00"/>
          <a:stretch/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7B379DC-577A-7927-4DC2-9AFC98B5AD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37811" y="599820"/>
            <a:ext cx="794657" cy="646331"/>
          </a:xfrm>
          <a:prstGeom prst="rect">
            <a:avLst/>
          </a:prstGeom>
        </p:spPr>
      </p:pic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5" name="Section Zoom 14">
                <a:extLst>
                  <a:ext uri="{FF2B5EF4-FFF2-40B4-BE49-F238E27FC236}">
                    <a16:creationId xmlns:a16="http://schemas.microsoft.com/office/drawing/2014/main" id="{C89E8864-1944-4F6D-6CEC-188E789BC1F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18134952"/>
                  </p:ext>
                </p:extLst>
              </p:nvPr>
            </p:nvGraphicFramePr>
            <p:xfrm>
              <a:off x="7684009" y="0"/>
              <a:ext cx="4423622" cy="2232000"/>
            </p:xfrm>
            <a:graphic>
              <a:graphicData uri="http://schemas.microsoft.com/office/powerpoint/2016/sectionzoom">
                <psez:sectionZm>
                  <psez:sectionZmObj sectionId="{86625257-16BC-4186-A813-BE39D4569CF4}">
                    <psez:zmPr id="{62EB31C5-E5DD-468E-865B-9CD9D82D7470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423622" cy="223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5" name="Section Zoom 14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C89E8864-1944-4F6D-6CEC-188E789BC1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84009" y="0"/>
                <a:ext cx="4423622" cy="223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7" name="Picture 6" descr="A blue bar graph with white text&#10;&#10;AI-generated content may be incorrect.">
            <a:extLst>
              <a:ext uri="{FF2B5EF4-FFF2-40B4-BE49-F238E27FC236}">
                <a16:creationId xmlns:a16="http://schemas.microsoft.com/office/drawing/2014/main" id="{14C2067C-448A-091A-3275-E6F9365202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43" b="9275"/>
          <a:stretch/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pic>
        <p:nvPicPr>
          <p:cNvPr id="6" name="Picture 5" descr="A green and white logo&#10;&#10;AI-generated content may be incorrect.">
            <a:extLst>
              <a:ext uri="{FF2B5EF4-FFF2-40B4-BE49-F238E27FC236}">
                <a16:creationId xmlns:a16="http://schemas.microsoft.com/office/drawing/2014/main" id="{2C5C2ED7-4FDB-3352-95EE-51B7F6882A5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596" r="3596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097446-B732-B03E-A3F1-32EF67440AE8}"/>
              </a:ext>
            </a:extLst>
          </p:cNvPr>
          <p:cNvSpPr txBox="1"/>
          <p:nvPr/>
        </p:nvSpPr>
        <p:spPr>
          <a:xfrm>
            <a:off x="642045" y="6443828"/>
            <a:ext cx="5280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95427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graph of a bar chart&#10;&#10;AI-generated content may be incorrect.">
            <a:extLst>
              <a:ext uri="{FF2B5EF4-FFF2-40B4-BE49-F238E27FC236}">
                <a16:creationId xmlns:a16="http://schemas.microsoft.com/office/drawing/2014/main" id="{7FB6D842-FA63-B3BC-0EB7-B59C56DCC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8" b="229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Picture 3" descr="A green and white logo&#10;&#10;AI-generated content may be incorrect.">
            <a:extLst>
              <a:ext uri="{FF2B5EF4-FFF2-40B4-BE49-F238E27FC236}">
                <a16:creationId xmlns:a16="http://schemas.microsoft.com/office/drawing/2014/main" id="{00B3CBE6-3386-919C-3265-CCD7B06F03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96" r="3596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2F21AA-D9B9-F0DA-B0ED-B97DC0437A2D}"/>
              </a:ext>
            </a:extLst>
          </p:cNvPr>
          <p:cNvSpPr txBox="1"/>
          <p:nvPr/>
        </p:nvSpPr>
        <p:spPr>
          <a:xfrm>
            <a:off x="642045" y="6443828"/>
            <a:ext cx="5280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64186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bar graph with white text&#10;&#10;AI-generated content may be incorrect.">
            <a:extLst>
              <a:ext uri="{FF2B5EF4-FFF2-40B4-BE49-F238E27FC236}">
                <a16:creationId xmlns:a16="http://schemas.microsoft.com/office/drawing/2014/main" id="{DAB140E6-A0A6-4EAC-D62B-3B927DC88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0" b="408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Picture 3" descr="A green and white logo&#10;&#10;AI-generated content may be incorrect.">
            <a:extLst>
              <a:ext uri="{FF2B5EF4-FFF2-40B4-BE49-F238E27FC236}">
                <a16:creationId xmlns:a16="http://schemas.microsoft.com/office/drawing/2014/main" id="{ECAAAE8C-65B1-BD45-72B1-713137D856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96" r="3596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D2C4A0-7C2D-5096-099D-0CED90856CC4}"/>
              </a:ext>
            </a:extLst>
          </p:cNvPr>
          <p:cNvSpPr txBox="1"/>
          <p:nvPr/>
        </p:nvSpPr>
        <p:spPr>
          <a:xfrm>
            <a:off x="642045" y="6443828"/>
            <a:ext cx="5280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158084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9F81F08-B3D2-4FCD-AA95-9A7D77BA2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537C28-7D02-447F-9F0C-36DE2D1BF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7518"/>
            <a:ext cx="128016" cy="53218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7BDD32-D892-12E8-38A4-621FC92272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0" r="1" b="331"/>
          <a:stretch/>
        </p:blipFill>
        <p:spPr>
          <a:xfrm>
            <a:off x="650945" y="537518"/>
            <a:ext cx="10927080" cy="531889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EA3CC4C-B1A0-4F1A-9CF7-5A51A4EDE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6197504"/>
            <a:ext cx="109270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green and white logo&#10;&#10;AI-generated content may be incorrect.">
            <a:extLst>
              <a:ext uri="{FF2B5EF4-FFF2-40B4-BE49-F238E27FC236}">
                <a16:creationId xmlns:a16="http://schemas.microsoft.com/office/drawing/2014/main" id="{C14B8483-DB33-1879-1AC4-AD6BFB148A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96" r="3596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789182-7B73-6D58-F8AD-FDC8D8CC3CCB}"/>
              </a:ext>
            </a:extLst>
          </p:cNvPr>
          <p:cNvSpPr txBox="1"/>
          <p:nvPr/>
        </p:nvSpPr>
        <p:spPr>
          <a:xfrm>
            <a:off x="642045" y="6443828"/>
            <a:ext cx="5280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2708559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14E92B6-5684-4F22-A5D2-C39699EBC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70" name="Color">
              <a:extLst>
                <a:ext uri="{FF2B5EF4-FFF2-40B4-BE49-F238E27FC236}">
                  <a16:creationId xmlns:a16="http://schemas.microsoft.com/office/drawing/2014/main" id="{FDA8194E-1500-4D26-9051-14C080AD3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Color">
              <a:extLst>
                <a:ext uri="{FF2B5EF4-FFF2-40B4-BE49-F238E27FC236}">
                  <a16:creationId xmlns:a16="http://schemas.microsoft.com/office/drawing/2014/main" id="{C2C9D0C8-FAE0-4845-A2D4-7771B8E5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D301342-EF06-4EB0-B93D-C2CDE80B7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5722408-FA59-4072-8487-0F7180CEE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032AAE6-8171-44F3-BDBE-7F52F8C18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D1EB87B-311B-4FAE-B513-4B78FCEA2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9652B09-7653-49FA-BEE3-50C00424A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0729D88-4E48-4EE7-8F29-A8DBC1319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5BDDE35-76BD-43F9-BD7A-9C2596D53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5D253D9-CBC3-47FB-9CBC-797A688E1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4FF7F3E-E2BA-4A44-992A-20AB0A0AB9EA}"/>
              </a:ext>
            </a:extLst>
          </p:cNvPr>
          <p:cNvSpPr txBox="1"/>
          <p:nvPr/>
        </p:nvSpPr>
        <p:spPr>
          <a:xfrm>
            <a:off x="786383" y="1190916"/>
            <a:ext cx="5074368" cy="756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Robustness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205B7-F484-9510-A81F-0AFA40082182}"/>
              </a:ext>
            </a:extLst>
          </p:cNvPr>
          <p:cNvSpPr txBox="1"/>
          <p:nvPr/>
        </p:nvSpPr>
        <p:spPr>
          <a:xfrm>
            <a:off x="817067" y="2406350"/>
            <a:ext cx="5012999" cy="2710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latin typeface="Montserrat" panose="00000500000000000000" pitchFamily="2" charset="0"/>
              </a:rPr>
              <a:t>Real-world Variability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latin typeface="Montserrat" panose="00000500000000000000" pitchFamily="2" charset="0"/>
              </a:rPr>
              <a:t>Noise tolerance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latin typeface="Montserrat" panose="00000500000000000000" pitchFamily="2" charset="0"/>
              </a:rPr>
              <a:t>Overfitting Prevention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latin typeface="Montserrat" panose="00000500000000000000" pitchFamily="2" charset="0"/>
              </a:rPr>
              <a:t>Resilience to Input Errors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latin typeface="Montserrat" panose="00000500000000000000" pitchFamily="2" charset="0"/>
              </a:rPr>
              <a:t>Continuous Testing</a:t>
            </a:r>
          </a:p>
        </p:txBody>
      </p:sp>
      <p:pic>
        <p:nvPicPr>
          <p:cNvPr id="4" name="Graphic 3" descr="Shield Tick with solid fill">
            <a:extLst>
              <a:ext uri="{FF2B5EF4-FFF2-40B4-BE49-F238E27FC236}">
                <a16:creationId xmlns:a16="http://schemas.microsoft.com/office/drawing/2014/main" id="{16005AB2-7370-EF2C-BEEA-1FFE7C6C9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761" y="566209"/>
            <a:ext cx="737508" cy="646331"/>
          </a:xfrm>
          <a:prstGeom prst="rect">
            <a:avLst/>
          </a:prstGeom>
        </p:spPr>
      </p:pic>
      <p:pic>
        <p:nvPicPr>
          <p:cNvPr id="6" name="Picture 5" descr="A person holding a pen&#10;&#10;AI-generated content may be incorrect.">
            <a:extLst>
              <a:ext uri="{FF2B5EF4-FFF2-40B4-BE49-F238E27FC236}">
                <a16:creationId xmlns:a16="http://schemas.microsoft.com/office/drawing/2014/main" id="{6EAED525-304A-5FD3-1516-AF0ECE0EAB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" b="1"/>
          <a:stretch/>
        </p:blipFill>
        <p:spPr>
          <a:xfrm>
            <a:off x="6697424" y="579000"/>
            <a:ext cx="4838061" cy="1896863"/>
          </a:xfrm>
          <a:prstGeom prst="rect">
            <a:avLst/>
          </a:prstGeom>
        </p:spPr>
      </p:pic>
      <p:pic>
        <p:nvPicPr>
          <p:cNvPr id="10" name="Picture 9" descr="A person holding up their fist&#10;&#10;AI-generated content may be incorrect.">
            <a:extLst>
              <a:ext uri="{FF2B5EF4-FFF2-40B4-BE49-F238E27FC236}">
                <a16:creationId xmlns:a16="http://schemas.microsoft.com/office/drawing/2014/main" id="{7AFD36DB-9975-68D1-BFE0-FF4290D7F7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6" r="-1" b="-1"/>
          <a:stretch/>
        </p:blipFill>
        <p:spPr>
          <a:xfrm>
            <a:off x="6698755" y="2498155"/>
            <a:ext cx="4838061" cy="1896863"/>
          </a:xfrm>
          <a:prstGeom prst="rect">
            <a:avLst/>
          </a:prstGeom>
        </p:spPr>
      </p:pic>
      <p:pic>
        <p:nvPicPr>
          <p:cNvPr id="8" name="Picture 7" descr="A hand holding up a fist&#10;&#10;AI-generated content may be incorrect.">
            <a:extLst>
              <a:ext uri="{FF2B5EF4-FFF2-40B4-BE49-F238E27FC236}">
                <a16:creationId xmlns:a16="http://schemas.microsoft.com/office/drawing/2014/main" id="{FC0BD3D1-105C-92EB-A381-6FA988D37D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6" r="-1" b="-1"/>
          <a:stretch/>
        </p:blipFill>
        <p:spPr>
          <a:xfrm>
            <a:off x="6698755" y="4417311"/>
            <a:ext cx="4838061" cy="1896863"/>
          </a:xfrm>
          <a:prstGeom prst="rect">
            <a:avLst/>
          </a:prstGeom>
        </p:spPr>
      </p:pic>
      <p:pic>
        <p:nvPicPr>
          <p:cNvPr id="5" name="Picture 4" descr="A green and white logo&#10;&#10;AI-generated content may be incorrect.">
            <a:extLst>
              <a:ext uri="{FF2B5EF4-FFF2-40B4-BE49-F238E27FC236}">
                <a16:creationId xmlns:a16="http://schemas.microsoft.com/office/drawing/2014/main" id="{8111B8A9-DDE0-DB77-8497-33E85F1D45E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596" r="3596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8D17C2-1BE6-BC7B-7A60-450D72B27EF7}"/>
              </a:ext>
            </a:extLst>
          </p:cNvPr>
          <p:cNvSpPr txBox="1"/>
          <p:nvPr/>
        </p:nvSpPr>
        <p:spPr>
          <a:xfrm>
            <a:off x="642045" y="6443828"/>
            <a:ext cx="5280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45051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7C62CF-8065-4BA3-B823-E6F985C4C85B}"/>
              </a:ext>
            </a:extLst>
          </p:cNvPr>
          <p:cNvSpPr txBox="1"/>
          <p:nvPr/>
        </p:nvSpPr>
        <p:spPr>
          <a:xfrm>
            <a:off x="3738625" y="216104"/>
            <a:ext cx="7279510" cy="989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ROLES AND CONTRIBUTIONS</a:t>
            </a:r>
          </a:p>
        </p:txBody>
      </p:sp>
      <p:pic>
        <p:nvPicPr>
          <p:cNvPr id="10" name="Picture 9" descr="Colorful paper stripes">
            <a:extLst>
              <a:ext uri="{FF2B5EF4-FFF2-40B4-BE49-F238E27FC236}">
                <a16:creationId xmlns:a16="http://schemas.microsoft.com/office/drawing/2014/main" id="{1781FF84-A247-5A22-3BC5-D88C915D48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82" r="26004" b="-1"/>
          <a:stretch/>
        </p:blipFill>
        <p:spPr>
          <a:xfrm>
            <a:off x="1" y="10"/>
            <a:ext cx="3507128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7DEB63-3AA2-1D89-157F-205E89681913}"/>
              </a:ext>
            </a:extLst>
          </p:cNvPr>
          <p:cNvCxnSpPr>
            <a:cxnSpLocks/>
          </p:cNvCxnSpPr>
          <p:nvPr/>
        </p:nvCxnSpPr>
        <p:spPr>
          <a:xfrm>
            <a:off x="4293416" y="1162748"/>
            <a:ext cx="0" cy="5117949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9BFB8E-7DC0-CAFE-AD22-13EB34D4C27F}"/>
              </a:ext>
            </a:extLst>
          </p:cNvPr>
          <p:cNvGrpSpPr/>
          <p:nvPr/>
        </p:nvGrpSpPr>
        <p:grpSpPr>
          <a:xfrm>
            <a:off x="4120191" y="1310445"/>
            <a:ext cx="6595476" cy="1524341"/>
            <a:chOff x="4120191" y="1310445"/>
            <a:chExt cx="6595476" cy="15243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F4BB228-281E-6ECE-496E-AAFADD378896}"/>
                </a:ext>
              </a:extLst>
            </p:cNvPr>
            <p:cNvSpPr txBox="1"/>
            <p:nvPr/>
          </p:nvSpPr>
          <p:spPr>
            <a:xfrm>
              <a:off x="4801007" y="1310445"/>
              <a:ext cx="5914660" cy="152434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2000" b="1">
                  <a:latin typeface="Montserrat" panose="00000500000000000000" pitchFamily="2" charset="0"/>
                </a:rPr>
                <a:t>Srinija Reddy Maddula</a:t>
              </a:r>
            </a:p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>
                  <a:latin typeface="Montserrat" panose="00000500000000000000" pitchFamily="2" charset="0"/>
                </a:rPr>
                <a:t>Handled documentation &amp; reporting compiled results, generated performance visualizations, and summarized trustworthiness improvements.</a:t>
              </a:r>
            </a:p>
            <a:p>
              <a:pPr indent="-228600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000"/>
            </a:p>
          </p:txBody>
        </p:sp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13A86FF9-CF28-5689-B100-BCAF40C8D547}"/>
                </a:ext>
              </a:extLst>
            </p:cNvPr>
            <p:cNvSpPr/>
            <p:nvPr/>
          </p:nvSpPr>
          <p:spPr>
            <a:xfrm>
              <a:off x="4120191" y="1345854"/>
              <a:ext cx="346449" cy="376972"/>
            </a:xfrm>
            <a:prstGeom prst="flowChartConnector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780A3F-2F08-7438-97F6-E897302EE9FC}"/>
              </a:ext>
            </a:extLst>
          </p:cNvPr>
          <p:cNvGrpSpPr/>
          <p:nvPr/>
        </p:nvGrpSpPr>
        <p:grpSpPr>
          <a:xfrm>
            <a:off x="4120191" y="3059973"/>
            <a:ext cx="5806098" cy="1138773"/>
            <a:chOff x="4120191" y="3059973"/>
            <a:chExt cx="5806098" cy="113877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2342EC1-4062-5824-45DA-336F41353BF6}"/>
                </a:ext>
              </a:extLst>
            </p:cNvPr>
            <p:cNvSpPr txBox="1"/>
            <p:nvPr/>
          </p:nvSpPr>
          <p:spPr>
            <a:xfrm>
              <a:off x="4810280" y="3059973"/>
              <a:ext cx="5116009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000" b="1">
                  <a:latin typeface="Montserrat" panose="00000500000000000000" pitchFamily="2" charset="0"/>
                </a:rPr>
                <a:t>Rasmitha Chinthalapally</a:t>
              </a:r>
              <a:br>
                <a:rPr lang="en-US" sz="2000">
                  <a:latin typeface="Montserrat" panose="00000500000000000000" pitchFamily="2" charset="0"/>
                </a:rPr>
              </a:br>
              <a:r>
                <a:rPr lang="en-US" sz="1600">
                  <a:latin typeface="Montserrat" panose="00000500000000000000" pitchFamily="2" charset="0"/>
                </a:rPr>
                <a:t>Led fairness evaluation — organized user study, collected diverse gesture data, and analyzed performance across user groups.</a:t>
              </a:r>
              <a:endParaRPr lang="en-IN" sz="1600">
                <a:latin typeface="Montserrat" panose="00000500000000000000" pitchFamily="2" charset="0"/>
              </a:endParaRPr>
            </a:p>
          </p:txBody>
        </p:sp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6A71A2C8-9A3F-CB5B-9B44-C56A937E043F}"/>
                </a:ext>
              </a:extLst>
            </p:cNvPr>
            <p:cNvSpPr/>
            <p:nvPr/>
          </p:nvSpPr>
          <p:spPr>
            <a:xfrm>
              <a:off x="4120191" y="3059973"/>
              <a:ext cx="346449" cy="376972"/>
            </a:xfrm>
            <a:prstGeom prst="flowChartConnector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C530893-BA5D-BAFD-5458-680A728FF817}"/>
              </a:ext>
            </a:extLst>
          </p:cNvPr>
          <p:cNvGrpSpPr/>
          <p:nvPr/>
        </p:nvGrpSpPr>
        <p:grpSpPr>
          <a:xfrm>
            <a:off x="4120191" y="4835225"/>
            <a:ext cx="5796824" cy="1138773"/>
            <a:chOff x="4120191" y="4835225"/>
            <a:chExt cx="5796824" cy="113877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707642-5B41-D9A6-7821-760E92C4BEBB}"/>
                </a:ext>
              </a:extLst>
            </p:cNvPr>
            <p:cNvSpPr txBox="1"/>
            <p:nvPr/>
          </p:nvSpPr>
          <p:spPr>
            <a:xfrm>
              <a:off x="4801007" y="4835225"/>
              <a:ext cx="5116008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000" b="1">
                  <a:latin typeface="Montserrat" panose="00000500000000000000" pitchFamily="2" charset="0"/>
                </a:rPr>
                <a:t>Vishal Varma Vuddaraju</a:t>
              </a:r>
              <a:br>
                <a:rPr lang="en-US" sz="2000">
                  <a:latin typeface="Montserrat" panose="00000500000000000000" pitchFamily="2" charset="0"/>
                </a:rPr>
              </a:br>
              <a:r>
                <a:rPr lang="en-US" sz="1600">
                  <a:latin typeface="Montserrat" panose="00000500000000000000" pitchFamily="2" charset="0"/>
                </a:rPr>
                <a:t>Conducted robustness testing, created test scenarios with lighting variations, motion blur, and background changes.</a:t>
              </a:r>
              <a:endParaRPr lang="en-IN" sz="1600">
                <a:latin typeface="Montserrat" panose="00000500000000000000" pitchFamily="2" charset="0"/>
              </a:endParaRPr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58116686-D3B9-B8EB-5151-F711FDA21311}"/>
                </a:ext>
              </a:extLst>
            </p:cNvPr>
            <p:cNvSpPr/>
            <p:nvPr/>
          </p:nvSpPr>
          <p:spPr>
            <a:xfrm>
              <a:off x="4120191" y="4835225"/>
              <a:ext cx="346449" cy="376972"/>
            </a:xfrm>
            <a:prstGeom prst="flowChartConnector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green and white logo&#10;&#10;AI-generated content may be incorrect.">
            <a:extLst>
              <a:ext uri="{FF2B5EF4-FFF2-40B4-BE49-F238E27FC236}">
                <a16:creationId xmlns:a16="http://schemas.microsoft.com/office/drawing/2014/main" id="{B90CF2C3-2E02-EAF0-A887-EB51FE0C6D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96" r="3596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41EBCF-64DC-50B8-964C-C073502B5632}"/>
              </a:ext>
            </a:extLst>
          </p:cNvPr>
          <p:cNvSpPr txBox="1"/>
          <p:nvPr/>
        </p:nvSpPr>
        <p:spPr>
          <a:xfrm>
            <a:off x="642045" y="6443828"/>
            <a:ext cx="5280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4877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A0107-4202-4361-6B9B-2AAF3C05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>
                <a:latin typeface="Montserrat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D1CFE-014B-2624-B103-D1F9FFBE0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43352"/>
            <a:ext cx="10018810" cy="2556387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>
                <a:latin typeface="Montserrat" panose="00000500000000000000" pitchFamily="2" charset="0"/>
              </a:rPr>
              <a:t>Mobile App Deployment for accessibility.</a:t>
            </a:r>
            <a:endParaRPr lang="en-US" sz="1800">
              <a:latin typeface="Montserrat" panose="00000500000000000000" pitchFamily="2" charset="0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800">
                <a:latin typeface="Montserrat" panose="00000500000000000000" pitchFamily="2" charset="0"/>
              </a:rPr>
              <a:t>Integration with Virtual Assistants (Alexa, Google Assistant).</a:t>
            </a:r>
          </a:p>
          <a:p>
            <a:pPr>
              <a:lnSpc>
                <a:spcPct val="150000"/>
              </a:lnSpc>
            </a:pPr>
            <a:r>
              <a:rPr lang="en-IN" sz="180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 Gesture Recognition</a:t>
            </a:r>
            <a:endParaRPr lang="en-US" sz="180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Multi-Sign Language Support</a:t>
            </a:r>
            <a:endParaRPr lang="en-IN" sz="2400">
              <a:latin typeface="Montserrat" panose="00000500000000000000" pitchFamily="2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logo with green text&#10;&#10;AI-generated content may be incorrect.">
            <a:extLst>
              <a:ext uri="{FF2B5EF4-FFF2-40B4-BE49-F238E27FC236}">
                <a16:creationId xmlns:a16="http://schemas.microsoft.com/office/drawing/2014/main" id="{725811AB-13FD-4402-6986-DB40A114FA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62" t="27027" r="73034" b="29730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85CE6EB-828C-3721-966C-9A7A18064AAA}"/>
              </a:ext>
            </a:extLst>
          </p:cNvPr>
          <p:cNvSpPr txBox="1"/>
          <p:nvPr/>
        </p:nvSpPr>
        <p:spPr>
          <a:xfrm>
            <a:off x="632874" y="6454871"/>
            <a:ext cx="6191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18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2944046758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75D6C10-B5A7-4715-803E-0501C9C2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A18B0-C627-0A3C-A9A5-ECCD4FF5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926" y="1572594"/>
            <a:ext cx="3976496" cy="67151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6" name="Picture 5" descr="A computer and a cup of coffee&#10;&#10;AI-generated content may be incorrect.">
            <a:extLst>
              <a:ext uri="{FF2B5EF4-FFF2-40B4-BE49-F238E27FC236}">
                <a16:creationId xmlns:a16="http://schemas.microsoft.com/office/drawing/2014/main" id="{B3E2D8F7-9538-9619-30A9-0AFE74D3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56" y="1095303"/>
            <a:ext cx="6474160" cy="46813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105B7-5D80-A0FE-F1AE-A2B6441948F5}"/>
              </a:ext>
            </a:extLst>
          </p:cNvPr>
          <p:cNvSpPr txBox="1"/>
          <p:nvPr/>
        </p:nvSpPr>
        <p:spPr>
          <a:xfrm>
            <a:off x="7591586" y="2412570"/>
            <a:ext cx="3983063" cy="2354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latin typeface="Montserrat" panose="00000500000000000000" pitchFamily="2" charset="0"/>
              </a:rPr>
              <a:t>Achieves real-time gesture recognition with high accuracy using CNNs. </a:t>
            </a:r>
            <a:r>
              <a:rPr lang="en-US" sz="1600">
                <a:latin typeface="Montserrat" panose="00000500000000000000" pitchFamily="2" charset="0"/>
              </a:rPr>
              <a:t>Built a real-time sign language interpreter using CNN and OpenCV, ensuring fairness with diverse datasets and robustness through testing under different conditions. The system delivers fast and reliable text and voice outputs.</a:t>
            </a:r>
            <a:endParaRPr lang="en-US" sz="1700">
              <a:latin typeface="Montserrat" panose="00000500000000000000" pitchFamily="2" charset="0"/>
            </a:endParaRPr>
          </a:p>
        </p:txBody>
      </p:sp>
      <p:pic>
        <p:nvPicPr>
          <p:cNvPr id="4" name="Picture 3" descr="A logo with green text&#10;&#10;AI-generated content may be incorrect.">
            <a:extLst>
              <a:ext uri="{FF2B5EF4-FFF2-40B4-BE49-F238E27FC236}">
                <a16:creationId xmlns:a16="http://schemas.microsoft.com/office/drawing/2014/main" id="{207A0F96-B27C-BC43-9D7C-CCD81142E4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62" t="27027" r="73034" b="29730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5F5A2A-6B1A-C659-B0F5-5E1B77F06F4E}"/>
              </a:ext>
            </a:extLst>
          </p:cNvPr>
          <p:cNvSpPr txBox="1"/>
          <p:nvPr/>
        </p:nvSpPr>
        <p:spPr>
          <a:xfrm>
            <a:off x="619959" y="6454871"/>
            <a:ext cx="5675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ea typeface="Calibri"/>
                <a:cs typeface="Calibri"/>
              </a:rPr>
              <a:t>19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152307609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C1E452-90AA-A320-A2BC-DAB53324DEB0}"/>
              </a:ext>
            </a:extLst>
          </p:cNvPr>
          <p:cNvSpPr/>
          <p:nvPr/>
        </p:nvSpPr>
        <p:spPr>
          <a:xfrm>
            <a:off x="5318" y="1568132"/>
            <a:ext cx="12202431" cy="3300372"/>
          </a:xfrm>
          <a:prstGeom prst="rect">
            <a:avLst/>
          </a:prstGeom>
          <a:solidFill>
            <a:srgbClr val="505F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262B2-1271-782D-744D-30B514F2E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5759" y="2794270"/>
            <a:ext cx="4006313" cy="86421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600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5" name="Picture 4" descr="A logo with green text&#10;&#10;AI-generated content may be incorrect.">
            <a:extLst>
              <a:ext uri="{FF2B5EF4-FFF2-40B4-BE49-F238E27FC236}">
                <a16:creationId xmlns:a16="http://schemas.microsoft.com/office/drawing/2014/main" id="{BFC67017-7E4A-2467-1F1D-F06BE0BA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62" t="27027" r="73034" b="29730"/>
          <a:stretch/>
        </p:blipFill>
        <p:spPr>
          <a:xfrm>
            <a:off x="2784" y="6446326"/>
            <a:ext cx="632983" cy="4156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491800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b5deb61-ac7e-4e6a-9735-1d9878e36af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B8836D18EDE44C82890CDC5D6FE4CB" ma:contentTypeVersion="10" ma:contentTypeDescription="Create a new document." ma:contentTypeScope="" ma:versionID="ff8f691b51871ecf0919c539fcb47832">
  <xsd:schema xmlns:xsd="http://www.w3.org/2001/XMLSchema" xmlns:xs="http://www.w3.org/2001/XMLSchema" xmlns:p="http://schemas.microsoft.com/office/2006/metadata/properties" xmlns:ns3="5b5deb61-ac7e-4e6a-9735-1d9878e36af7" targetNamespace="http://schemas.microsoft.com/office/2006/metadata/properties" ma:root="true" ma:fieldsID="a358d4f0e443100453b4f0da268d488d" ns3:_="">
    <xsd:import namespace="5b5deb61-ac7e-4e6a-9735-1d9878e36af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5deb61-ac7e-4e6a-9735-1d9878e36af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B0901C-7D99-4C17-9093-F662A9093637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purl.org/dc/terms/"/>
    <ds:schemaRef ds:uri="http://www.w3.org/XML/1998/namespace"/>
    <ds:schemaRef ds:uri="5b5deb61-ac7e-4e6a-9735-1d9878e36af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C3F248F-5EDF-4AA9-8254-481EDEE0EC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F4636E-0D75-4372-8F4B-0DE36E99D730}">
  <ds:schemaRefs>
    <ds:schemaRef ds:uri="5b5deb61-ac7e-4e6a-9735-1d9878e36a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41bf7de-e2e5-46df-8d67-82607df9deaa}" enabled="0" method="" siteId="{741bf7de-e2e5-46df-8d67-82607df9de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1841</Words>
  <Application>Microsoft Office PowerPoint</Application>
  <PresentationFormat>Widescreen</PresentationFormat>
  <Paragraphs>177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Courier New</vt:lpstr>
      <vt:lpstr>Montserrat</vt:lpstr>
      <vt:lpstr>var(--paragraph-font)</vt:lpstr>
      <vt:lpstr>Office Theme</vt:lpstr>
      <vt:lpstr>PowerPoint Presentation</vt:lpstr>
      <vt:lpstr>PowerPoint Presentation</vt:lpstr>
      <vt:lpstr>Motivation</vt:lpstr>
      <vt:lpstr>Related work </vt:lpstr>
      <vt:lpstr>Proposed solution</vt:lpstr>
      <vt:lpstr>Dataset</vt:lpstr>
      <vt:lpstr>Data Preparation</vt:lpstr>
      <vt:lpstr>Technologies and tools </vt:lpstr>
      <vt:lpstr>PowerPoint Presentation</vt:lpstr>
      <vt:lpstr>Challenges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CHINTHALAPALLY RASMITHA</dc:creator>
  <cp:lastModifiedBy>Rasmitha Chinthalapally</cp:lastModifiedBy>
  <cp:revision>3</cp:revision>
  <dcterms:created xsi:type="dcterms:W3CDTF">2025-02-18T18:56:30Z</dcterms:created>
  <dcterms:modified xsi:type="dcterms:W3CDTF">2025-04-28T22:21:21Z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0x01010077B8836D18EDE44C82890CDC5D6FE4CB</vt:lpwstr>
  </property>
</Properties>
</file>